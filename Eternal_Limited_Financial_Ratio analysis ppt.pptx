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8" r:id="rId3"/>
    <p:sldId id="257"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2787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36"/>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E84393"/>
          </a:solidFill>
          <a:ln w="12700">
            <a:solidFill>
              <a:srgbClr val="E84393"/>
            </a:solidFill>
            <a:prstDash val="solid"/>
          </a:ln>
        </p:spPr>
      </p:sp>
      <p:sp>
        <p:nvSpPr>
          <p:cNvPr id="3" name="Shape 1"/>
          <p:cNvSpPr/>
          <p:nvPr/>
        </p:nvSpPr>
        <p:spPr>
          <a:xfrm>
            <a:off x="0" y="5052060"/>
            <a:ext cx="9144000" cy="91440"/>
          </a:xfrm>
          <a:prstGeom prst="rect">
            <a:avLst/>
          </a:prstGeom>
          <a:solidFill>
            <a:srgbClr val="FC6404"/>
          </a:solidFill>
          <a:ln w="12700">
            <a:solidFill>
              <a:srgbClr val="FC6404"/>
            </a:solidFill>
            <a:prstDash val="solid"/>
          </a:ln>
        </p:spPr>
      </p:sp>
      <p:sp>
        <p:nvSpPr>
          <p:cNvPr id="4" name="Text 2"/>
          <p:cNvSpPr/>
          <p:nvPr/>
        </p:nvSpPr>
        <p:spPr>
          <a:xfrm>
            <a:off x="457200" y="914400"/>
            <a:ext cx="8229600" cy="914400"/>
          </a:xfrm>
          <a:prstGeom prst="rect">
            <a:avLst/>
          </a:prstGeom>
          <a:noFill/>
          <a:ln/>
        </p:spPr>
        <p:txBody>
          <a:bodyPr wrap="square"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Eternal Limited</a:t>
            </a:r>
            <a:endParaRPr lang="en-US" sz="4800" dirty="0"/>
          </a:p>
        </p:txBody>
      </p:sp>
      <p:sp>
        <p:nvSpPr>
          <p:cNvPr id="5" name="Text 3"/>
          <p:cNvSpPr/>
          <p:nvPr/>
        </p:nvSpPr>
        <p:spPr>
          <a:xfrm>
            <a:off x="457200" y="1783080"/>
            <a:ext cx="8229600" cy="347472"/>
          </a:xfrm>
          <a:prstGeom prst="rect">
            <a:avLst/>
          </a:prstGeom>
          <a:noFill/>
          <a:ln/>
        </p:spPr>
        <p:txBody>
          <a:bodyPr wrap="square" rtlCol="0" anchor="ctr"/>
          <a:lstStyle/>
          <a:p>
            <a:pPr marL="0" indent="0" algn="ctr">
              <a:buNone/>
            </a:pPr>
            <a:r>
              <a:rPr lang="en-US" sz="1400" i="1" dirty="0">
                <a:solidFill>
                  <a:srgbClr val="FACC15"/>
                </a:solidFill>
                <a:latin typeface="Calibri" pitchFamily="34" charset="0"/>
                <a:ea typeface="Calibri" pitchFamily="34" charset="-122"/>
                <a:cs typeface="Calibri" pitchFamily="34" charset="-120"/>
              </a:rPr>
              <a:t>Formerly Zomato Limited  |  NSE: ETERNAL</a:t>
            </a:r>
            <a:endParaRPr lang="en-US" sz="1400" dirty="0"/>
          </a:p>
        </p:txBody>
      </p:sp>
      <p:sp>
        <p:nvSpPr>
          <p:cNvPr id="6" name="Text 4"/>
          <p:cNvSpPr/>
          <p:nvPr/>
        </p:nvSpPr>
        <p:spPr>
          <a:xfrm>
            <a:off x="457200" y="2304288"/>
            <a:ext cx="8229600" cy="438912"/>
          </a:xfrm>
          <a:prstGeom prst="rect">
            <a:avLst/>
          </a:prstGeom>
          <a:noFill/>
          <a:ln/>
        </p:spPr>
        <p:txBody>
          <a:bodyPr wrap="square" rtlCol="0" anchor="ctr"/>
          <a:lstStyle/>
          <a:p>
            <a:pPr marL="0" indent="0" algn="ctr">
              <a:buNone/>
            </a:pPr>
            <a:r>
              <a:rPr lang="en-US" sz="2200" b="1" dirty="0">
                <a:solidFill>
                  <a:srgbClr val="E84393"/>
                </a:solidFill>
                <a:latin typeface="Calibri" pitchFamily="34" charset="0"/>
                <a:ea typeface="Calibri" pitchFamily="34" charset="-122"/>
                <a:cs typeface="Calibri" pitchFamily="34" charset="-120"/>
              </a:rPr>
              <a:t>Financial Ratio Analysis Report</a:t>
            </a:r>
            <a:endParaRPr lang="en-US" sz="2200" dirty="0"/>
          </a:p>
        </p:txBody>
      </p:sp>
      <p:sp>
        <p:nvSpPr>
          <p:cNvPr id="7" name="Text 5"/>
          <p:cNvSpPr/>
          <p:nvPr/>
        </p:nvSpPr>
        <p:spPr>
          <a:xfrm>
            <a:off x="457200" y="2816352"/>
            <a:ext cx="8229600" cy="310896"/>
          </a:xfrm>
          <a:prstGeom prst="rect">
            <a:avLst/>
          </a:prstGeom>
          <a:noFill/>
          <a:ln/>
        </p:spPr>
        <p:txBody>
          <a:bodyPr wrap="square" rtlCol="0" anchor="ctr"/>
          <a:lstStyle/>
          <a:p>
            <a:pPr marL="0" indent="0" algn="ctr">
              <a:buNone/>
            </a:pPr>
            <a:r>
              <a:rPr lang="en-US" sz="1300" dirty="0">
                <a:solidFill>
                  <a:srgbClr val="A0AEC0"/>
                </a:solidFill>
                <a:latin typeface="Calibri" pitchFamily="34" charset="0"/>
                <a:ea typeface="Calibri" pitchFamily="34" charset="-122"/>
                <a:cs typeface="Calibri" pitchFamily="34" charset="-120"/>
              </a:rPr>
              <a:t>FY2024 vs FY2025  •  All figures in INR Crore</a:t>
            </a:r>
            <a:endParaRPr lang="en-US" sz="1300" dirty="0"/>
          </a:p>
        </p:txBody>
      </p:sp>
      <p:sp>
        <p:nvSpPr>
          <p:cNvPr id="8" name="Shape 6"/>
          <p:cNvSpPr/>
          <p:nvPr/>
        </p:nvSpPr>
        <p:spPr>
          <a:xfrm>
            <a:off x="457200" y="3310128"/>
            <a:ext cx="1920240" cy="1417320"/>
          </a:xfrm>
          <a:prstGeom prst="rect">
            <a:avLst/>
          </a:prstGeom>
          <a:solidFill>
            <a:srgbClr val="2D3561"/>
          </a:solidFill>
          <a:ln w="19050">
            <a:solidFill>
              <a:srgbClr val="00C896"/>
            </a:solidFill>
            <a:prstDash val="solid"/>
          </a:ln>
          <a:effectLst>
            <a:outerShdw blurRad="101600" dist="38100" dir="8100000" algn="bl" rotWithShape="0">
              <a:srgbClr val="000000">
                <a:alpha val="25000"/>
              </a:srgbClr>
            </a:outerShdw>
          </a:effectLst>
        </p:spPr>
      </p:sp>
      <p:sp>
        <p:nvSpPr>
          <p:cNvPr id="9" name="Text 7"/>
          <p:cNvSpPr/>
          <p:nvPr/>
        </p:nvSpPr>
        <p:spPr>
          <a:xfrm>
            <a:off x="457200" y="3383280"/>
            <a:ext cx="1920240" cy="237744"/>
          </a:xfrm>
          <a:prstGeom prst="rect">
            <a:avLst/>
          </a:prstGeom>
          <a:noFill/>
          <a:ln/>
        </p:spPr>
        <p:txBody>
          <a:bodyPr wrap="square" rtlCol="0" anchor="ctr"/>
          <a:lstStyle/>
          <a:p>
            <a:pPr marL="0" indent="0" algn="ctr">
              <a:buNone/>
            </a:pPr>
            <a:r>
              <a:rPr lang="en-US" sz="900" dirty="0">
                <a:solidFill>
                  <a:srgbClr val="A0AEC0"/>
                </a:solidFill>
                <a:latin typeface="Calibri" pitchFamily="34" charset="0"/>
                <a:ea typeface="Calibri" pitchFamily="34" charset="-122"/>
                <a:cs typeface="Calibri" pitchFamily="34" charset="-120"/>
              </a:rPr>
              <a:t>Total Revenue</a:t>
            </a:r>
            <a:endParaRPr lang="en-US" sz="900" dirty="0"/>
          </a:p>
        </p:txBody>
      </p:sp>
      <p:sp>
        <p:nvSpPr>
          <p:cNvPr id="10" name="Text 8"/>
          <p:cNvSpPr/>
          <p:nvPr/>
        </p:nvSpPr>
        <p:spPr>
          <a:xfrm>
            <a:off x="457200" y="3611880"/>
            <a:ext cx="1920240" cy="457200"/>
          </a:xfrm>
          <a:prstGeom prst="rect">
            <a:avLst/>
          </a:prstGeom>
          <a:noFill/>
          <a:ln/>
        </p:spPr>
        <p:txBody>
          <a:bodyPr wrap="square" rtlCol="0" anchor="ctr"/>
          <a:lstStyle/>
          <a:p>
            <a:pPr marL="0" indent="0" algn="ctr">
              <a:buNone/>
            </a:pPr>
            <a:r>
              <a:rPr lang="en-US" sz="1700" b="1" dirty="0">
                <a:solidFill>
                  <a:srgbClr val="00C896"/>
                </a:solidFill>
                <a:latin typeface="Calibri" pitchFamily="34" charset="0"/>
                <a:ea typeface="Calibri" pitchFamily="34" charset="-122"/>
                <a:cs typeface="Calibri" pitchFamily="34" charset="-120"/>
              </a:rPr>
              <a:t>₹20,243 Cr</a:t>
            </a:r>
            <a:endParaRPr lang="en-US" sz="1700" dirty="0"/>
          </a:p>
        </p:txBody>
      </p:sp>
      <p:sp>
        <p:nvSpPr>
          <p:cNvPr id="11" name="Text 9"/>
          <p:cNvSpPr/>
          <p:nvPr/>
        </p:nvSpPr>
        <p:spPr>
          <a:xfrm>
            <a:off x="457200" y="4059936"/>
            <a:ext cx="1920240" cy="201168"/>
          </a:xfrm>
          <a:prstGeom prst="rect">
            <a:avLst/>
          </a:prstGeom>
          <a:noFill/>
          <a:ln/>
        </p:spPr>
        <p:txBody>
          <a:bodyPr wrap="square" rtlCol="0" anchor="ctr"/>
          <a:lstStyle/>
          <a:p>
            <a:pPr marL="0" indent="0" algn="ctr">
              <a:buNone/>
            </a:pPr>
            <a:r>
              <a:rPr lang="en-US" sz="850" b="1" dirty="0">
                <a:solidFill>
                  <a:srgbClr val="00C896"/>
                </a:solidFill>
                <a:latin typeface="Calibri" pitchFamily="34" charset="0"/>
                <a:ea typeface="Calibri" pitchFamily="34" charset="-122"/>
                <a:cs typeface="Calibri" pitchFamily="34" charset="-120"/>
              </a:rPr>
              <a:t>+67% YoY</a:t>
            </a:r>
            <a:endParaRPr lang="en-US" sz="850" dirty="0"/>
          </a:p>
        </p:txBody>
      </p:sp>
      <p:sp>
        <p:nvSpPr>
          <p:cNvPr id="12" name="Shape 10"/>
          <p:cNvSpPr/>
          <p:nvPr/>
        </p:nvSpPr>
        <p:spPr>
          <a:xfrm>
            <a:off x="2560320" y="3310128"/>
            <a:ext cx="1920240" cy="1417320"/>
          </a:xfrm>
          <a:prstGeom prst="rect">
            <a:avLst/>
          </a:prstGeom>
          <a:solidFill>
            <a:srgbClr val="2D3561"/>
          </a:solidFill>
          <a:ln w="19050">
            <a:solidFill>
              <a:srgbClr val="FC6404"/>
            </a:solidFill>
            <a:prstDash val="solid"/>
          </a:ln>
          <a:effectLst>
            <a:outerShdw blurRad="101600" dist="38100" dir="8100000" algn="bl" rotWithShape="0">
              <a:srgbClr val="000000">
                <a:alpha val="25000"/>
              </a:srgbClr>
            </a:outerShdw>
          </a:effectLst>
        </p:spPr>
      </p:sp>
      <p:sp>
        <p:nvSpPr>
          <p:cNvPr id="13" name="Text 11"/>
          <p:cNvSpPr/>
          <p:nvPr/>
        </p:nvSpPr>
        <p:spPr>
          <a:xfrm>
            <a:off x="2560320" y="3383280"/>
            <a:ext cx="1920240" cy="237744"/>
          </a:xfrm>
          <a:prstGeom prst="rect">
            <a:avLst/>
          </a:prstGeom>
          <a:noFill/>
          <a:ln/>
        </p:spPr>
        <p:txBody>
          <a:bodyPr wrap="square" rtlCol="0" anchor="ctr"/>
          <a:lstStyle/>
          <a:p>
            <a:pPr marL="0" indent="0" algn="ctr">
              <a:buNone/>
            </a:pPr>
            <a:r>
              <a:rPr lang="en-US" sz="900" dirty="0">
                <a:solidFill>
                  <a:srgbClr val="A0AEC0"/>
                </a:solidFill>
                <a:latin typeface="Calibri" pitchFamily="34" charset="0"/>
                <a:ea typeface="Calibri" pitchFamily="34" charset="-122"/>
                <a:cs typeface="Calibri" pitchFamily="34" charset="-120"/>
              </a:rPr>
              <a:t>PAT</a:t>
            </a:r>
            <a:endParaRPr lang="en-US" sz="900" dirty="0"/>
          </a:p>
        </p:txBody>
      </p:sp>
      <p:sp>
        <p:nvSpPr>
          <p:cNvPr id="14" name="Text 12"/>
          <p:cNvSpPr/>
          <p:nvPr/>
        </p:nvSpPr>
        <p:spPr>
          <a:xfrm>
            <a:off x="2560320" y="3611880"/>
            <a:ext cx="1920240" cy="457200"/>
          </a:xfrm>
          <a:prstGeom prst="rect">
            <a:avLst/>
          </a:prstGeom>
          <a:noFill/>
          <a:ln/>
        </p:spPr>
        <p:txBody>
          <a:bodyPr wrap="square" rtlCol="0" anchor="ctr"/>
          <a:lstStyle/>
          <a:p>
            <a:pPr marL="0" indent="0" algn="ctr">
              <a:buNone/>
            </a:pPr>
            <a:r>
              <a:rPr lang="en-US" sz="1700" b="1" dirty="0">
                <a:solidFill>
                  <a:srgbClr val="FC6404"/>
                </a:solidFill>
                <a:latin typeface="Calibri" pitchFamily="34" charset="0"/>
                <a:ea typeface="Calibri" pitchFamily="34" charset="-122"/>
                <a:cs typeface="Calibri" pitchFamily="34" charset="-120"/>
              </a:rPr>
              <a:t>₹527 Cr</a:t>
            </a:r>
            <a:endParaRPr lang="en-US" sz="1700" dirty="0"/>
          </a:p>
        </p:txBody>
      </p:sp>
      <p:sp>
        <p:nvSpPr>
          <p:cNvPr id="15" name="Text 13"/>
          <p:cNvSpPr/>
          <p:nvPr/>
        </p:nvSpPr>
        <p:spPr>
          <a:xfrm>
            <a:off x="2560320" y="4059936"/>
            <a:ext cx="1920240" cy="201168"/>
          </a:xfrm>
          <a:prstGeom prst="rect">
            <a:avLst/>
          </a:prstGeom>
          <a:noFill/>
          <a:ln/>
        </p:spPr>
        <p:txBody>
          <a:bodyPr wrap="square" rtlCol="0" anchor="ctr"/>
          <a:lstStyle/>
          <a:p>
            <a:pPr marL="0" indent="0" algn="ctr">
              <a:buNone/>
            </a:pPr>
            <a:r>
              <a:rPr lang="en-US" sz="850" b="1" dirty="0">
                <a:solidFill>
                  <a:srgbClr val="00C896"/>
                </a:solidFill>
                <a:latin typeface="Calibri" pitchFamily="34" charset="0"/>
                <a:ea typeface="Calibri" pitchFamily="34" charset="-122"/>
                <a:cs typeface="Calibri" pitchFamily="34" charset="-120"/>
              </a:rPr>
              <a:t>+50% YoY</a:t>
            </a:r>
            <a:endParaRPr lang="en-US" sz="850" dirty="0"/>
          </a:p>
        </p:txBody>
      </p:sp>
      <p:sp>
        <p:nvSpPr>
          <p:cNvPr id="16" name="Shape 14"/>
          <p:cNvSpPr/>
          <p:nvPr/>
        </p:nvSpPr>
        <p:spPr>
          <a:xfrm>
            <a:off x="4663440" y="3310128"/>
            <a:ext cx="1920240" cy="1417320"/>
          </a:xfrm>
          <a:prstGeom prst="rect">
            <a:avLst/>
          </a:prstGeom>
          <a:solidFill>
            <a:srgbClr val="2D3561"/>
          </a:solidFill>
          <a:ln w="19050">
            <a:solidFill>
              <a:srgbClr val="FACC15"/>
            </a:solidFill>
            <a:prstDash val="solid"/>
          </a:ln>
          <a:effectLst>
            <a:outerShdw blurRad="101600" dist="38100" dir="8100000" algn="bl" rotWithShape="0">
              <a:srgbClr val="000000">
                <a:alpha val="25000"/>
              </a:srgbClr>
            </a:outerShdw>
          </a:effectLst>
        </p:spPr>
      </p:sp>
      <p:sp>
        <p:nvSpPr>
          <p:cNvPr id="17" name="Text 15"/>
          <p:cNvSpPr/>
          <p:nvPr/>
        </p:nvSpPr>
        <p:spPr>
          <a:xfrm>
            <a:off x="4663440" y="3383280"/>
            <a:ext cx="1920240" cy="237744"/>
          </a:xfrm>
          <a:prstGeom prst="rect">
            <a:avLst/>
          </a:prstGeom>
          <a:noFill/>
          <a:ln/>
        </p:spPr>
        <p:txBody>
          <a:bodyPr wrap="square" rtlCol="0" anchor="ctr"/>
          <a:lstStyle/>
          <a:p>
            <a:pPr marL="0" indent="0" algn="ctr">
              <a:buNone/>
            </a:pPr>
            <a:r>
              <a:rPr lang="en-US" sz="900" dirty="0">
                <a:solidFill>
                  <a:srgbClr val="A0AEC0"/>
                </a:solidFill>
                <a:latin typeface="Calibri" pitchFamily="34" charset="0"/>
                <a:ea typeface="Calibri" pitchFamily="34" charset="-122"/>
                <a:cs typeface="Calibri" pitchFamily="34" charset="-120"/>
              </a:rPr>
              <a:t>Cash &amp; Bank</a:t>
            </a:r>
            <a:endParaRPr lang="en-US" sz="900" dirty="0"/>
          </a:p>
        </p:txBody>
      </p:sp>
      <p:sp>
        <p:nvSpPr>
          <p:cNvPr id="18" name="Text 16"/>
          <p:cNvSpPr/>
          <p:nvPr/>
        </p:nvSpPr>
        <p:spPr>
          <a:xfrm>
            <a:off x="4663440" y="3611880"/>
            <a:ext cx="1920240" cy="457200"/>
          </a:xfrm>
          <a:prstGeom prst="rect">
            <a:avLst/>
          </a:prstGeom>
          <a:noFill/>
          <a:ln/>
        </p:spPr>
        <p:txBody>
          <a:bodyPr wrap="square" rtlCol="0" anchor="ctr"/>
          <a:lstStyle/>
          <a:p>
            <a:pPr marL="0" indent="0" algn="ctr">
              <a:buNone/>
            </a:pPr>
            <a:r>
              <a:rPr lang="en-US" sz="1700" b="1" dirty="0">
                <a:solidFill>
                  <a:srgbClr val="FACC15"/>
                </a:solidFill>
                <a:latin typeface="Calibri" pitchFamily="34" charset="0"/>
                <a:ea typeface="Calibri" pitchFamily="34" charset="-122"/>
                <a:cs typeface="Calibri" pitchFamily="34" charset="-120"/>
              </a:rPr>
              <a:t>₹18,824 Cr</a:t>
            </a:r>
            <a:endParaRPr lang="en-US" sz="1700" dirty="0"/>
          </a:p>
        </p:txBody>
      </p:sp>
      <p:sp>
        <p:nvSpPr>
          <p:cNvPr id="19" name="Text 17"/>
          <p:cNvSpPr/>
          <p:nvPr/>
        </p:nvSpPr>
        <p:spPr>
          <a:xfrm>
            <a:off x="4663440" y="4059936"/>
            <a:ext cx="1920240" cy="201168"/>
          </a:xfrm>
          <a:prstGeom prst="rect">
            <a:avLst/>
          </a:prstGeom>
          <a:noFill/>
          <a:ln/>
        </p:spPr>
        <p:txBody>
          <a:bodyPr wrap="square" rtlCol="0" anchor="ctr"/>
          <a:lstStyle/>
          <a:p>
            <a:pPr marL="0" indent="0" algn="ctr">
              <a:buNone/>
            </a:pPr>
            <a:r>
              <a:rPr lang="en-US" sz="850" b="1" dirty="0">
                <a:solidFill>
                  <a:srgbClr val="00C896"/>
                </a:solidFill>
                <a:latin typeface="Calibri" pitchFamily="34" charset="0"/>
                <a:ea typeface="Calibri" pitchFamily="34" charset="-122"/>
                <a:cs typeface="Calibri" pitchFamily="34" charset="-120"/>
              </a:rPr>
              <a:t>+54% YoY</a:t>
            </a:r>
            <a:endParaRPr lang="en-US" sz="850" dirty="0"/>
          </a:p>
        </p:txBody>
      </p:sp>
      <p:sp>
        <p:nvSpPr>
          <p:cNvPr id="20" name="Shape 18"/>
          <p:cNvSpPr/>
          <p:nvPr/>
        </p:nvSpPr>
        <p:spPr>
          <a:xfrm>
            <a:off x="6766560" y="3310128"/>
            <a:ext cx="1920240" cy="1417320"/>
          </a:xfrm>
          <a:prstGeom prst="rect">
            <a:avLst/>
          </a:prstGeom>
          <a:solidFill>
            <a:srgbClr val="2D3561"/>
          </a:solidFill>
          <a:ln w="19050">
            <a:solidFill>
              <a:srgbClr val="E84393"/>
            </a:solidFill>
            <a:prstDash val="solid"/>
          </a:ln>
          <a:effectLst>
            <a:outerShdw blurRad="101600" dist="38100" dir="8100000" algn="bl" rotWithShape="0">
              <a:srgbClr val="000000">
                <a:alpha val="25000"/>
              </a:srgbClr>
            </a:outerShdw>
          </a:effectLst>
        </p:spPr>
      </p:sp>
      <p:sp>
        <p:nvSpPr>
          <p:cNvPr id="21" name="Text 19"/>
          <p:cNvSpPr/>
          <p:nvPr/>
        </p:nvSpPr>
        <p:spPr>
          <a:xfrm>
            <a:off x="6766560" y="3383280"/>
            <a:ext cx="1920240" cy="237744"/>
          </a:xfrm>
          <a:prstGeom prst="rect">
            <a:avLst/>
          </a:prstGeom>
          <a:noFill/>
          <a:ln/>
        </p:spPr>
        <p:txBody>
          <a:bodyPr wrap="square" rtlCol="0" anchor="ctr"/>
          <a:lstStyle/>
          <a:p>
            <a:pPr marL="0" indent="0" algn="ctr">
              <a:buNone/>
            </a:pPr>
            <a:r>
              <a:rPr lang="en-US" sz="900" dirty="0">
                <a:solidFill>
                  <a:srgbClr val="A0AEC0"/>
                </a:solidFill>
                <a:latin typeface="Calibri" pitchFamily="34" charset="0"/>
                <a:ea typeface="Calibri" pitchFamily="34" charset="-122"/>
                <a:cs typeface="Calibri" pitchFamily="34" charset="-120"/>
              </a:rPr>
              <a:t>EPS (Basic)</a:t>
            </a:r>
            <a:endParaRPr lang="en-US" sz="900" dirty="0"/>
          </a:p>
        </p:txBody>
      </p:sp>
      <p:sp>
        <p:nvSpPr>
          <p:cNvPr id="22" name="Text 20"/>
          <p:cNvSpPr/>
          <p:nvPr/>
        </p:nvSpPr>
        <p:spPr>
          <a:xfrm>
            <a:off x="6766560" y="3611880"/>
            <a:ext cx="1920240" cy="457200"/>
          </a:xfrm>
          <a:prstGeom prst="rect">
            <a:avLst/>
          </a:prstGeom>
          <a:noFill/>
          <a:ln/>
        </p:spPr>
        <p:txBody>
          <a:bodyPr wrap="square" rtlCol="0" anchor="ctr"/>
          <a:lstStyle/>
          <a:p>
            <a:pPr marL="0" indent="0" algn="ctr">
              <a:buNone/>
            </a:pPr>
            <a:r>
              <a:rPr lang="en-US" sz="1700" b="1" dirty="0">
                <a:solidFill>
                  <a:srgbClr val="E84393"/>
                </a:solidFill>
                <a:latin typeface="Calibri" pitchFamily="34" charset="0"/>
                <a:ea typeface="Calibri" pitchFamily="34" charset="-122"/>
                <a:cs typeface="Calibri" pitchFamily="34" charset="-120"/>
              </a:rPr>
              <a:t>₹0.60</a:t>
            </a:r>
            <a:endParaRPr lang="en-US" sz="1700" dirty="0"/>
          </a:p>
        </p:txBody>
      </p:sp>
      <p:sp>
        <p:nvSpPr>
          <p:cNvPr id="23" name="Text 21"/>
          <p:cNvSpPr/>
          <p:nvPr/>
        </p:nvSpPr>
        <p:spPr>
          <a:xfrm>
            <a:off x="6766560" y="4059936"/>
            <a:ext cx="1920240" cy="201168"/>
          </a:xfrm>
          <a:prstGeom prst="rect">
            <a:avLst/>
          </a:prstGeom>
          <a:noFill/>
          <a:ln/>
        </p:spPr>
        <p:txBody>
          <a:bodyPr wrap="square" rtlCol="0" anchor="ctr"/>
          <a:lstStyle/>
          <a:p>
            <a:pPr marL="0" indent="0" algn="ctr">
              <a:buNone/>
            </a:pPr>
            <a:r>
              <a:rPr lang="en-US" sz="850" b="1" dirty="0">
                <a:solidFill>
                  <a:srgbClr val="00C896"/>
                </a:solidFill>
                <a:latin typeface="Calibri" pitchFamily="34" charset="0"/>
                <a:ea typeface="Calibri" pitchFamily="34" charset="-122"/>
                <a:cs typeface="Calibri" pitchFamily="34" charset="-120"/>
              </a:rPr>
              <a:t>+46% YoY</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1A1F36"/>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84393"/>
          </a:solidFill>
          <a:ln w="12700">
            <a:solidFill>
              <a:srgbClr val="E84393"/>
            </a:solidFill>
            <a:prstDash val="solid"/>
          </a:ln>
        </p:spPr>
      </p:sp>
      <p:sp>
        <p:nvSpPr>
          <p:cNvPr id="3" name="Text 1"/>
          <p:cNvSpPr/>
          <p:nvPr/>
        </p:nvSpPr>
        <p:spPr>
          <a:xfrm>
            <a:off x="411480" y="109728"/>
            <a:ext cx="8321040" cy="47548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Company Overview – Eternal Limited</a:t>
            </a:r>
            <a:endParaRPr lang="en-US" sz="2000" dirty="0"/>
          </a:p>
        </p:txBody>
      </p:sp>
      <p:sp>
        <p:nvSpPr>
          <p:cNvPr id="4" name="Text 2"/>
          <p:cNvSpPr/>
          <p:nvPr/>
        </p:nvSpPr>
        <p:spPr>
          <a:xfrm>
            <a:off x="411480" y="566928"/>
            <a:ext cx="8321040" cy="256032"/>
          </a:xfrm>
          <a:prstGeom prst="rect">
            <a:avLst/>
          </a:prstGeom>
          <a:noFill/>
          <a:ln/>
        </p:spPr>
        <p:txBody>
          <a:bodyPr wrap="square" rtlCol="0" anchor="ctr"/>
          <a:lstStyle/>
          <a:p>
            <a:pPr marL="0" indent="0">
              <a:buNone/>
            </a:pPr>
            <a:r>
              <a:rPr lang="en-US" sz="1050" dirty="0">
                <a:solidFill>
                  <a:srgbClr val="A0AEC0"/>
                </a:solidFill>
                <a:latin typeface="Calibri" pitchFamily="34" charset="0"/>
                <a:ea typeface="Calibri" pitchFamily="34" charset="-122"/>
                <a:cs typeface="Calibri" pitchFamily="34" charset="-120"/>
              </a:rPr>
              <a:t>Formerly Zomato Limited  |  NSE: ETERNAL  |  Founded 2008</a:t>
            </a:r>
            <a:endParaRPr lang="en-US" sz="1050" dirty="0"/>
          </a:p>
        </p:txBody>
      </p:sp>
      <p:sp>
        <p:nvSpPr>
          <p:cNvPr id="5" name="Shape 3"/>
          <p:cNvSpPr/>
          <p:nvPr/>
        </p:nvSpPr>
        <p:spPr>
          <a:xfrm>
            <a:off x="411480" y="868680"/>
            <a:ext cx="8321040" cy="22860"/>
          </a:xfrm>
          <a:prstGeom prst="rect">
            <a:avLst/>
          </a:prstGeom>
          <a:solidFill>
            <a:srgbClr val="2D3561"/>
          </a:solidFill>
          <a:ln w="12700">
            <a:solidFill>
              <a:srgbClr val="2D3561"/>
            </a:solidFill>
            <a:prstDash val="solid"/>
          </a:ln>
        </p:spPr>
      </p:sp>
      <p:sp>
        <p:nvSpPr>
          <p:cNvPr id="6" name="Shape 4"/>
          <p:cNvSpPr/>
          <p:nvPr/>
        </p:nvSpPr>
        <p:spPr>
          <a:xfrm>
            <a:off x="274320" y="960120"/>
            <a:ext cx="4160520" cy="3977640"/>
          </a:xfrm>
          <a:prstGeom prst="rect">
            <a:avLst/>
          </a:prstGeom>
          <a:solidFill>
            <a:srgbClr val="2D3561"/>
          </a:solidFill>
          <a:ln w="10160">
            <a:solidFill>
              <a:srgbClr val="E84393"/>
            </a:solidFill>
            <a:prstDash val="solid"/>
          </a:ln>
          <a:effectLst>
            <a:outerShdw blurRad="101600" dist="38100" dir="8100000" algn="bl" rotWithShape="0">
              <a:srgbClr val="000000">
                <a:alpha val="25000"/>
              </a:srgbClr>
            </a:outerShdw>
          </a:effectLst>
        </p:spPr>
      </p:sp>
      <p:sp>
        <p:nvSpPr>
          <p:cNvPr id="7" name="Text 5"/>
          <p:cNvSpPr/>
          <p:nvPr/>
        </p:nvSpPr>
        <p:spPr>
          <a:xfrm>
            <a:off x="365760" y="1033272"/>
            <a:ext cx="3977640" cy="256032"/>
          </a:xfrm>
          <a:prstGeom prst="rect">
            <a:avLst/>
          </a:prstGeom>
          <a:noFill/>
          <a:ln/>
        </p:spPr>
        <p:txBody>
          <a:bodyPr wrap="square" rtlCol="0" anchor="ctr"/>
          <a:lstStyle/>
          <a:p>
            <a:pPr marL="0" indent="0">
              <a:buNone/>
            </a:pPr>
            <a:r>
              <a:rPr lang="en-US" sz="1150" b="1" dirty="0">
                <a:solidFill>
                  <a:srgbClr val="E84393"/>
                </a:solidFill>
                <a:latin typeface="Calibri" pitchFamily="34" charset="0"/>
                <a:ea typeface="Calibri" pitchFamily="34" charset="-122"/>
                <a:cs typeface="Calibri" pitchFamily="34" charset="-120"/>
              </a:rPr>
              <a:t>About the Company</a:t>
            </a:r>
            <a:endParaRPr lang="en-US" sz="1150" dirty="0"/>
          </a:p>
        </p:txBody>
      </p:sp>
      <p:sp>
        <p:nvSpPr>
          <p:cNvPr id="8" name="Text 6"/>
          <p:cNvSpPr/>
          <p:nvPr/>
        </p:nvSpPr>
        <p:spPr>
          <a:xfrm>
            <a:off x="365760" y="1325880"/>
            <a:ext cx="3977640" cy="3520440"/>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Eternal Limited</a:t>
            </a:r>
            <a:r>
              <a:rPr lang="en-US" sz="850" dirty="0">
                <a:solidFill>
                  <a:srgbClr val="A0AEC0"/>
                </a:solidFill>
                <a:latin typeface="Calibri" pitchFamily="34" charset="0"/>
                <a:ea typeface="Calibri" pitchFamily="34" charset="-122"/>
                <a:cs typeface="Calibri" pitchFamily="34" charset="-120"/>
              </a:rPr>
              <a:t> (formerly Zomato Limited) is India's largest consumer technology conglomerate, rebranded in early 2025 to reflect its growth beyond food delivery. Founded in 2008 by Deepinder Goyal, it is listed on the NSE under the ticker ETERNAL.
</a:t>
            </a:r>
            <a:r>
              <a:rPr lang="en-US" sz="850" b="1" dirty="0">
                <a:solidFill>
                  <a:srgbClr val="00C896"/>
                </a:solidFill>
                <a:latin typeface="Calibri" pitchFamily="34" charset="0"/>
                <a:ea typeface="Calibri" pitchFamily="34" charset="-122"/>
                <a:cs typeface="Calibri" pitchFamily="34" charset="-120"/>
              </a:rPr>
              <a:t>📊 FY2025 Highlights
</a:t>
            </a:r>
            <a:r>
              <a:rPr lang="en-US" sz="850" dirty="0">
                <a:solidFill>
                  <a:srgbClr val="A0AEC0"/>
                </a:solidFill>
                <a:latin typeface="Calibri" pitchFamily="34" charset="0"/>
                <a:ea typeface="Calibri" pitchFamily="34" charset="-122"/>
                <a:cs typeface="Calibri" pitchFamily="34" charset="-120"/>
              </a:rPr>
              <a:t>• Revenue jumped from ₹12,114 Cr to ₹20,243 Cr (+67%)
• Net Profit grew from ₹351 Cr to ₹527 Cr (+50%)
• Cash &amp; Bank reserves: ₹18,824 Cr (+54%)
• Combined Adj. EBITDA surged from ₹372 Cr to ₹1,079 Cr — nearly 3× in one year
• EPS improved from ₹0.41 to ₹0.60 per share
</a:t>
            </a:r>
            <a:r>
              <a:rPr lang="en-US" sz="850" b="1" dirty="0">
                <a:solidFill>
                  <a:srgbClr val="FACC15"/>
                </a:solidFill>
                <a:latin typeface="Calibri" pitchFamily="34" charset="0"/>
                <a:ea typeface="Calibri" pitchFamily="34" charset="-122"/>
                <a:cs typeface="Calibri" pitchFamily="34" charset="-120"/>
              </a:rPr>
              <a:t>🏆 Competitive Strengths
</a:t>
            </a:r>
            <a:r>
              <a:rPr lang="en-US" sz="850" dirty="0">
                <a:solidFill>
                  <a:srgbClr val="A0AEC0"/>
                </a:solidFill>
                <a:latin typeface="Calibri" pitchFamily="34" charset="0"/>
                <a:ea typeface="Calibri" pitchFamily="34" charset="-122"/>
                <a:cs typeface="Calibri" pitchFamily="34" charset="-120"/>
              </a:rPr>
              <a:t>• Dominant market leader in India's food delivery</a:t>
            </a:r>
            <a:endParaRPr lang="en-US" sz="850" dirty="0"/>
          </a:p>
          <a:p>
            <a:pPr marL="0" indent="0">
              <a:buNone/>
            </a:pPr>
            <a:r>
              <a:rPr lang="en-US" sz="850" dirty="0">
                <a:solidFill>
                  <a:srgbClr val="A0AEC0"/>
                </a:solidFill>
                <a:latin typeface="Calibri" pitchFamily="34" charset="0"/>
                <a:ea typeface="Calibri" pitchFamily="34" charset="-122"/>
                <a:cs typeface="Calibri" pitchFamily="34" charset="-120"/>
              </a:rPr>
              <a:t>• Fastest-growing quick commerce (Blinkit)</a:t>
            </a:r>
            <a:endParaRPr lang="en-US" sz="850" dirty="0"/>
          </a:p>
          <a:p>
            <a:pPr marL="0" indent="0">
              <a:buNone/>
            </a:pPr>
            <a:r>
              <a:rPr lang="en-US" sz="850" dirty="0">
                <a:solidFill>
                  <a:srgbClr val="A0AEC0"/>
                </a:solidFill>
                <a:latin typeface="Calibri" pitchFamily="34" charset="0"/>
                <a:ea typeface="Calibri" pitchFamily="34" charset="-122"/>
                <a:cs typeface="Calibri" pitchFamily="34" charset="-120"/>
              </a:rPr>
              <a:t>• Zero-debt model with massive cash surplus</a:t>
            </a:r>
            <a:endParaRPr lang="en-US" sz="850" dirty="0"/>
          </a:p>
          <a:p>
            <a:pPr marL="0" indent="0">
              <a:buNone/>
            </a:pPr>
            <a:r>
              <a:rPr lang="en-US" sz="850" dirty="0">
                <a:solidFill>
                  <a:srgbClr val="A0AEC0"/>
                </a:solidFill>
                <a:latin typeface="Calibri" pitchFamily="34" charset="0"/>
                <a:ea typeface="Calibri" pitchFamily="34" charset="-122"/>
                <a:cs typeface="Calibri" pitchFamily="34" charset="-120"/>
              </a:rPr>
              <a:t>• Multi-segment platform creating strong network effects</a:t>
            </a:r>
            <a:endParaRPr lang="en-US" sz="850" dirty="0"/>
          </a:p>
        </p:txBody>
      </p:sp>
      <p:sp>
        <p:nvSpPr>
          <p:cNvPr id="9" name="Shape 7"/>
          <p:cNvSpPr/>
          <p:nvPr/>
        </p:nvSpPr>
        <p:spPr>
          <a:xfrm>
            <a:off x="4617720" y="960120"/>
            <a:ext cx="2029968" cy="1920240"/>
          </a:xfrm>
          <a:prstGeom prst="rect">
            <a:avLst/>
          </a:prstGeom>
          <a:solidFill>
            <a:srgbClr val="1E2957"/>
          </a:solidFill>
          <a:ln w="15240">
            <a:solidFill>
              <a:srgbClr val="E84393"/>
            </a:solidFill>
            <a:prstDash val="solid"/>
          </a:ln>
          <a:effectLst>
            <a:outerShdw blurRad="101600" dist="38100" dir="8100000" algn="bl" rotWithShape="0">
              <a:srgbClr val="000000">
                <a:alpha val="25000"/>
              </a:srgbClr>
            </a:outerShdw>
          </a:effectLst>
        </p:spPr>
      </p:sp>
      <p:sp>
        <p:nvSpPr>
          <p:cNvPr id="10" name="Shape 8"/>
          <p:cNvSpPr/>
          <p:nvPr/>
        </p:nvSpPr>
        <p:spPr>
          <a:xfrm>
            <a:off x="4617720" y="960120"/>
            <a:ext cx="2029968" cy="64008"/>
          </a:xfrm>
          <a:prstGeom prst="rect">
            <a:avLst/>
          </a:prstGeom>
          <a:solidFill>
            <a:srgbClr val="E84393"/>
          </a:solidFill>
          <a:ln w="12700">
            <a:solidFill>
              <a:srgbClr val="E84393"/>
            </a:solidFill>
            <a:prstDash val="solid"/>
          </a:ln>
        </p:spPr>
      </p:sp>
      <p:sp>
        <p:nvSpPr>
          <p:cNvPr id="11" name="Text 9"/>
          <p:cNvSpPr/>
          <p:nvPr/>
        </p:nvSpPr>
        <p:spPr>
          <a:xfrm>
            <a:off x="4709160" y="1078992"/>
            <a:ext cx="1847088" cy="292608"/>
          </a:xfrm>
          <a:prstGeom prst="rect">
            <a:avLst/>
          </a:prstGeom>
          <a:noFill/>
          <a:ln/>
        </p:spPr>
        <p:txBody>
          <a:bodyPr wrap="square" rtlCol="0" anchor="ctr"/>
          <a:lstStyle/>
          <a:p>
            <a:pPr marL="0" indent="0">
              <a:buNone/>
            </a:pPr>
            <a:r>
              <a:rPr lang="en-US" sz="1000" b="1" dirty="0">
                <a:solidFill>
                  <a:srgbClr val="E84393"/>
                </a:solidFill>
                <a:latin typeface="Calibri" pitchFamily="34" charset="0"/>
                <a:ea typeface="Calibri" pitchFamily="34" charset="-122"/>
                <a:cs typeface="Calibri" pitchFamily="34" charset="-120"/>
              </a:rPr>
              <a:t>🍕 Zomato (Food Delivery)</a:t>
            </a:r>
            <a:endParaRPr lang="en-US" sz="1000" dirty="0"/>
          </a:p>
        </p:txBody>
      </p:sp>
      <p:sp>
        <p:nvSpPr>
          <p:cNvPr id="12" name="Text 10"/>
          <p:cNvSpPr/>
          <p:nvPr/>
        </p:nvSpPr>
        <p:spPr>
          <a:xfrm>
            <a:off x="4709160" y="1417320"/>
            <a:ext cx="1847088" cy="1353312"/>
          </a:xfrm>
          <a:prstGeom prst="rect">
            <a:avLst/>
          </a:prstGeom>
          <a:noFill/>
          <a:ln/>
        </p:spPr>
        <p:txBody>
          <a:bodyPr wrap="square" rtlCol="0" anchor="ctr"/>
          <a:lstStyle/>
          <a:p>
            <a:pPr marL="0" indent="0">
              <a:buNone/>
            </a:pPr>
            <a:r>
              <a:rPr lang="en-US" sz="800" dirty="0">
                <a:solidFill>
                  <a:srgbClr val="A0AEC0"/>
                </a:solidFill>
                <a:latin typeface="Calibri" pitchFamily="34" charset="0"/>
                <a:ea typeface="Calibri" pitchFamily="34" charset="-122"/>
                <a:cs typeface="Calibri" pitchFamily="34" charset="-120"/>
              </a:rPr>
              <a:t>India's #1 food ordering platform connecting 300K+ restaurants with millions of hungry customers. Profit engine of the group — EBITDA of ₹1,505 Cr in FY25, up 65% from ₹912 Cr.</a:t>
            </a:r>
            <a:endParaRPr lang="en-US" sz="800" dirty="0"/>
          </a:p>
        </p:txBody>
      </p:sp>
      <p:sp>
        <p:nvSpPr>
          <p:cNvPr id="13" name="Shape 11"/>
          <p:cNvSpPr/>
          <p:nvPr/>
        </p:nvSpPr>
        <p:spPr>
          <a:xfrm>
            <a:off x="6784848" y="960120"/>
            <a:ext cx="2029968" cy="1920240"/>
          </a:xfrm>
          <a:prstGeom prst="rect">
            <a:avLst/>
          </a:prstGeom>
          <a:solidFill>
            <a:srgbClr val="1E2957"/>
          </a:solidFill>
          <a:ln w="15240">
            <a:solidFill>
              <a:srgbClr val="FC6404"/>
            </a:solidFill>
            <a:prstDash val="solid"/>
          </a:ln>
          <a:effectLst>
            <a:outerShdw blurRad="101600" dist="38100" dir="8100000" algn="bl" rotWithShape="0">
              <a:srgbClr val="000000">
                <a:alpha val="25000"/>
              </a:srgbClr>
            </a:outerShdw>
          </a:effectLst>
        </p:spPr>
      </p:sp>
      <p:sp>
        <p:nvSpPr>
          <p:cNvPr id="14" name="Shape 12"/>
          <p:cNvSpPr/>
          <p:nvPr/>
        </p:nvSpPr>
        <p:spPr>
          <a:xfrm>
            <a:off x="6784848" y="960120"/>
            <a:ext cx="2029968" cy="64008"/>
          </a:xfrm>
          <a:prstGeom prst="rect">
            <a:avLst/>
          </a:prstGeom>
          <a:solidFill>
            <a:srgbClr val="FC6404"/>
          </a:solidFill>
          <a:ln w="12700">
            <a:solidFill>
              <a:srgbClr val="FC6404"/>
            </a:solidFill>
            <a:prstDash val="solid"/>
          </a:ln>
        </p:spPr>
      </p:sp>
      <p:sp>
        <p:nvSpPr>
          <p:cNvPr id="15" name="Text 13"/>
          <p:cNvSpPr/>
          <p:nvPr/>
        </p:nvSpPr>
        <p:spPr>
          <a:xfrm>
            <a:off x="6876288" y="1078992"/>
            <a:ext cx="1847088" cy="292608"/>
          </a:xfrm>
          <a:prstGeom prst="rect">
            <a:avLst/>
          </a:prstGeom>
          <a:noFill/>
          <a:ln/>
        </p:spPr>
        <p:txBody>
          <a:bodyPr wrap="square" rtlCol="0" anchor="ctr"/>
          <a:lstStyle/>
          <a:p>
            <a:pPr marL="0" indent="0">
              <a:buNone/>
            </a:pPr>
            <a:r>
              <a:rPr lang="en-US" sz="1000" b="1" dirty="0">
                <a:solidFill>
                  <a:srgbClr val="FC6404"/>
                </a:solidFill>
                <a:latin typeface="Calibri" pitchFamily="34" charset="0"/>
                <a:ea typeface="Calibri" pitchFamily="34" charset="-122"/>
                <a:cs typeface="Calibri" pitchFamily="34" charset="-120"/>
              </a:rPr>
              <a:t>⚡ Blinkit (Quick Commerce)</a:t>
            </a:r>
            <a:endParaRPr lang="en-US" sz="1000" dirty="0"/>
          </a:p>
        </p:txBody>
      </p:sp>
      <p:sp>
        <p:nvSpPr>
          <p:cNvPr id="16" name="Text 14"/>
          <p:cNvSpPr/>
          <p:nvPr/>
        </p:nvSpPr>
        <p:spPr>
          <a:xfrm>
            <a:off x="6876288" y="1417320"/>
            <a:ext cx="1847088" cy="1353312"/>
          </a:xfrm>
          <a:prstGeom prst="rect">
            <a:avLst/>
          </a:prstGeom>
          <a:noFill/>
          <a:ln/>
        </p:spPr>
        <p:txBody>
          <a:bodyPr wrap="square" rtlCol="0" anchor="ctr"/>
          <a:lstStyle/>
          <a:p>
            <a:pPr marL="0" indent="0">
              <a:buNone/>
            </a:pPr>
            <a:r>
              <a:rPr lang="en-US" sz="800" dirty="0">
                <a:solidFill>
                  <a:srgbClr val="A0AEC0"/>
                </a:solidFill>
                <a:latin typeface="Calibri" pitchFamily="34" charset="0"/>
                <a:ea typeface="Calibri" pitchFamily="34" charset="-122"/>
                <a:cs typeface="Calibri" pitchFamily="34" charset="-120"/>
              </a:rPr>
              <a:t>10-minute grocery &amp; essentials delivery across 600+ dark stores. Losses shrinking fast (₹-384 Cr → ₹-292 Cr). Expected to turn profitable in FY26 — the group's biggest growth bet.</a:t>
            </a:r>
            <a:endParaRPr lang="en-US" sz="800" dirty="0"/>
          </a:p>
        </p:txBody>
      </p:sp>
      <p:sp>
        <p:nvSpPr>
          <p:cNvPr id="17" name="Shape 15"/>
          <p:cNvSpPr/>
          <p:nvPr/>
        </p:nvSpPr>
        <p:spPr>
          <a:xfrm>
            <a:off x="4617720" y="3017520"/>
            <a:ext cx="2029968" cy="1920240"/>
          </a:xfrm>
          <a:prstGeom prst="rect">
            <a:avLst/>
          </a:prstGeom>
          <a:solidFill>
            <a:srgbClr val="1E2957"/>
          </a:solidFill>
          <a:ln w="15240">
            <a:solidFill>
              <a:srgbClr val="FACC15"/>
            </a:solidFill>
            <a:prstDash val="solid"/>
          </a:ln>
          <a:effectLst>
            <a:outerShdw blurRad="101600" dist="38100" dir="8100000" algn="bl" rotWithShape="0">
              <a:srgbClr val="000000">
                <a:alpha val="25000"/>
              </a:srgbClr>
            </a:outerShdw>
          </a:effectLst>
        </p:spPr>
      </p:sp>
      <p:sp>
        <p:nvSpPr>
          <p:cNvPr id="18" name="Shape 16"/>
          <p:cNvSpPr/>
          <p:nvPr/>
        </p:nvSpPr>
        <p:spPr>
          <a:xfrm>
            <a:off x="4617720" y="3017520"/>
            <a:ext cx="2029968" cy="64008"/>
          </a:xfrm>
          <a:prstGeom prst="rect">
            <a:avLst/>
          </a:prstGeom>
          <a:solidFill>
            <a:srgbClr val="FACC15"/>
          </a:solidFill>
          <a:ln w="12700">
            <a:solidFill>
              <a:srgbClr val="FACC15"/>
            </a:solidFill>
            <a:prstDash val="solid"/>
          </a:ln>
        </p:spPr>
      </p:sp>
      <p:sp>
        <p:nvSpPr>
          <p:cNvPr id="19" name="Text 17"/>
          <p:cNvSpPr/>
          <p:nvPr/>
        </p:nvSpPr>
        <p:spPr>
          <a:xfrm>
            <a:off x="4709160" y="3136392"/>
            <a:ext cx="1847088" cy="292608"/>
          </a:xfrm>
          <a:prstGeom prst="rect">
            <a:avLst/>
          </a:prstGeom>
          <a:noFill/>
          <a:ln/>
        </p:spPr>
        <p:txBody>
          <a:bodyPr wrap="square" rtlCol="0" anchor="ctr"/>
          <a:lstStyle/>
          <a:p>
            <a:pPr marL="0" indent="0">
              <a:buNone/>
            </a:pPr>
            <a:r>
              <a:rPr lang="en-US" sz="1000" b="1" dirty="0">
                <a:solidFill>
                  <a:srgbClr val="FACC15"/>
                </a:solidFill>
                <a:latin typeface="Calibri" pitchFamily="34" charset="0"/>
                <a:ea typeface="Calibri" pitchFamily="34" charset="-122"/>
                <a:cs typeface="Calibri" pitchFamily="34" charset="-120"/>
              </a:rPr>
              <a:t>🎟️ District (Going-Out)</a:t>
            </a:r>
            <a:endParaRPr lang="en-US" sz="1000" dirty="0"/>
          </a:p>
        </p:txBody>
      </p:sp>
      <p:sp>
        <p:nvSpPr>
          <p:cNvPr id="20" name="Text 18"/>
          <p:cNvSpPr/>
          <p:nvPr/>
        </p:nvSpPr>
        <p:spPr>
          <a:xfrm>
            <a:off x="4709160" y="3474720"/>
            <a:ext cx="1847088" cy="1353312"/>
          </a:xfrm>
          <a:prstGeom prst="rect">
            <a:avLst/>
          </a:prstGeom>
          <a:noFill/>
          <a:ln/>
        </p:spPr>
        <p:txBody>
          <a:bodyPr wrap="square" rtlCol="0" anchor="ctr"/>
          <a:lstStyle/>
          <a:p>
            <a:pPr marL="0" indent="0">
              <a:buNone/>
            </a:pPr>
            <a:r>
              <a:rPr lang="en-US" sz="800" dirty="0">
                <a:solidFill>
                  <a:srgbClr val="A0AEC0"/>
                </a:solidFill>
                <a:latin typeface="Calibri" pitchFamily="34" charset="0"/>
                <a:ea typeface="Calibri" pitchFamily="34" charset="-122"/>
                <a:cs typeface="Calibri" pitchFamily="34" charset="-120"/>
              </a:rPr>
              <a:t>Premium entertainment, dining &amp; events ticketing platform (formerly "Going-Out"). Early stage — EBITDA of ₹-38 Cr. Captures India's booming premium lifestyle spending.</a:t>
            </a:r>
            <a:endParaRPr lang="en-US" sz="800" dirty="0"/>
          </a:p>
        </p:txBody>
      </p:sp>
      <p:sp>
        <p:nvSpPr>
          <p:cNvPr id="21" name="Shape 19"/>
          <p:cNvSpPr/>
          <p:nvPr/>
        </p:nvSpPr>
        <p:spPr>
          <a:xfrm>
            <a:off x="6784848" y="3017520"/>
            <a:ext cx="2029968" cy="1920240"/>
          </a:xfrm>
          <a:prstGeom prst="rect">
            <a:avLst/>
          </a:prstGeom>
          <a:solidFill>
            <a:srgbClr val="1E2957"/>
          </a:solidFill>
          <a:ln w="15240">
            <a:solidFill>
              <a:srgbClr val="00C896"/>
            </a:solidFill>
            <a:prstDash val="solid"/>
          </a:ln>
          <a:effectLst>
            <a:outerShdw blurRad="101600" dist="38100" dir="8100000" algn="bl" rotWithShape="0">
              <a:srgbClr val="000000">
                <a:alpha val="25000"/>
              </a:srgbClr>
            </a:outerShdw>
          </a:effectLst>
        </p:spPr>
      </p:sp>
      <p:sp>
        <p:nvSpPr>
          <p:cNvPr id="22" name="Shape 20"/>
          <p:cNvSpPr/>
          <p:nvPr/>
        </p:nvSpPr>
        <p:spPr>
          <a:xfrm>
            <a:off x="6784848" y="3017520"/>
            <a:ext cx="2029968" cy="64008"/>
          </a:xfrm>
          <a:prstGeom prst="rect">
            <a:avLst/>
          </a:prstGeom>
          <a:solidFill>
            <a:srgbClr val="00C896"/>
          </a:solidFill>
          <a:ln w="12700">
            <a:solidFill>
              <a:srgbClr val="00C896"/>
            </a:solidFill>
            <a:prstDash val="solid"/>
          </a:ln>
        </p:spPr>
      </p:sp>
      <p:sp>
        <p:nvSpPr>
          <p:cNvPr id="23" name="Text 21"/>
          <p:cNvSpPr/>
          <p:nvPr/>
        </p:nvSpPr>
        <p:spPr>
          <a:xfrm>
            <a:off x="6876288" y="3136392"/>
            <a:ext cx="1847088" cy="292608"/>
          </a:xfrm>
          <a:prstGeom prst="rect">
            <a:avLst/>
          </a:prstGeom>
          <a:noFill/>
          <a:ln/>
        </p:spPr>
        <p:txBody>
          <a:bodyPr wrap="square" rtlCol="0" anchor="ctr"/>
          <a:lstStyle/>
          <a:p>
            <a:pPr marL="0" indent="0">
              <a:buNone/>
            </a:pPr>
            <a:r>
              <a:rPr lang="en-US" sz="1000" b="1" dirty="0">
                <a:solidFill>
                  <a:srgbClr val="00C896"/>
                </a:solidFill>
                <a:latin typeface="Calibri" pitchFamily="34" charset="0"/>
                <a:ea typeface="Calibri" pitchFamily="34" charset="-122"/>
                <a:cs typeface="Calibri" pitchFamily="34" charset="-120"/>
              </a:rPr>
              <a:t>🏭 Hyperpure (B2B Supply)</a:t>
            </a:r>
            <a:endParaRPr lang="en-US" sz="1000" dirty="0"/>
          </a:p>
        </p:txBody>
      </p:sp>
      <p:sp>
        <p:nvSpPr>
          <p:cNvPr id="24" name="Text 22"/>
          <p:cNvSpPr/>
          <p:nvPr/>
        </p:nvSpPr>
        <p:spPr>
          <a:xfrm>
            <a:off x="6876288" y="3474720"/>
            <a:ext cx="1847088" cy="1353312"/>
          </a:xfrm>
          <a:prstGeom prst="rect">
            <a:avLst/>
          </a:prstGeom>
          <a:noFill/>
          <a:ln/>
        </p:spPr>
        <p:txBody>
          <a:bodyPr wrap="square" rtlCol="0" anchor="ctr"/>
          <a:lstStyle/>
          <a:p>
            <a:pPr marL="0" indent="0">
              <a:buNone/>
            </a:pPr>
            <a:r>
              <a:rPr lang="en-US" sz="800" dirty="0">
                <a:solidFill>
                  <a:srgbClr val="A0AEC0"/>
                </a:solidFill>
                <a:latin typeface="Calibri" pitchFamily="34" charset="0"/>
                <a:ea typeface="Calibri" pitchFamily="34" charset="-122"/>
                <a:cs typeface="Calibri" pitchFamily="34" charset="-120"/>
              </a:rPr>
              <a:t>B2B ingredient supply chain for restaurants — fresh produce, dairy &amp; packaged goods. Losses improving (₹-126 Cr → ₹-84 Cr). Strengthens Zomato's restaurant partnerships.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A1F36"/>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84393"/>
          </a:solidFill>
          <a:ln w="12700">
            <a:solidFill>
              <a:srgbClr val="E84393"/>
            </a:solidFill>
            <a:prstDash val="solid"/>
          </a:ln>
        </p:spPr>
      </p:sp>
      <p:sp>
        <p:nvSpPr>
          <p:cNvPr id="3" name="Text 1"/>
          <p:cNvSpPr/>
          <p:nvPr/>
        </p:nvSpPr>
        <p:spPr>
          <a:xfrm>
            <a:off x="411480" y="109728"/>
            <a:ext cx="8321040" cy="47548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Table of Contents</a:t>
            </a:r>
            <a:endParaRPr lang="en-US" sz="2000" dirty="0"/>
          </a:p>
        </p:txBody>
      </p:sp>
      <p:sp>
        <p:nvSpPr>
          <p:cNvPr id="4" name="Text 2"/>
          <p:cNvSpPr/>
          <p:nvPr/>
        </p:nvSpPr>
        <p:spPr>
          <a:xfrm>
            <a:off x="411480" y="566928"/>
            <a:ext cx="8321040" cy="256032"/>
          </a:xfrm>
          <a:prstGeom prst="rect">
            <a:avLst/>
          </a:prstGeom>
          <a:noFill/>
          <a:ln/>
        </p:spPr>
        <p:txBody>
          <a:bodyPr wrap="square" rtlCol="0" anchor="ctr"/>
          <a:lstStyle/>
          <a:p>
            <a:pPr marL="0" indent="0">
              <a:buNone/>
            </a:pPr>
            <a:r>
              <a:rPr lang="en-US" sz="1050" dirty="0">
                <a:solidFill>
                  <a:srgbClr val="A0AEC0"/>
                </a:solidFill>
                <a:latin typeface="Calibri" pitchFamily="34" charset="0"/>
                <a:ea typeface="Calibri" pitchFamily="34" charset="-122"/>
                <a:cs typeface="Calibri" pitchFamily="34" charset="-120"/>
              </a:rPr>
              <a:t>Eternal Limited – Financial Ratio Analysis  |  FY2024 vs FY2025</a:t>
            </a:r>
            <a:endParaRPr lang="en-US" sz="1050" dirty="0"/>
          </a:p>
        </p:txBody>
      </p:sp>
      <p:sp>
        <p:nvSpPr>
          <p:cNvPr id="5" name="Shape 3"/>
          <p:cNvSpPr/>
          <p:nvPr/>
        </p:nvSpPr>
        <p:spPr>
          <a:xfrm>
            <a:off x="411480" y="868680"/>
            <a:ext cx="8321040" cy="22860"/>
          </a:xfrm>
          <a:prstGeom prst="rect">
            <a:avLst/>
          </a:prstGeom>
          <a:solidFill>
            <a:srgbClr val="2D3561"/>
          </a:solidFill>
          <a:ln w="12700">
            <a:solidFill>
              <a:srgbClr val="2D3561"/>
            </a:solidFill>
            <a:prstDash val="solid"/>
          </a:ln>
        </p:spPr>
      </p:sp>
      <p:sp>
        <p:nvSpPr>
          <p:cNvPr id="6" name="Shape 4"/>
          <p:cNvSpPr/>
          <p:nvPr/>
        </p:nvSpPr>
        <p:spPr>
          <a:xfrm>
            <a:off x="228600" y="987552"/>
            <a:ext cx="2788920" cy="1188720"/>
          </a:xfrm>
          <a:prstGeom prst="rect">
            <a:avLst/>
          </a:prstGeom>
          <a:solidFill>
            <a:srgbClr val="2D3561"/>
          </a:solidFill>
          <a:ln w="10160">
            <a:solidFill>
              <a:srgbClr val="E84393"/>
            </a:solidFill>
            <a:prstDash val="solid"/>
          </a:ln>
          <a:effectLst>
            <a:outerShdw blurRad="101600" dist="38100" dir="8100000" algn="bl" rotWithShape="0">
              <a:srgbClr val="000000">
                <a:alpha val="25000"/>
              </a:srgbClr>
            </a:outerShdw>
          </a:effectLst>
        </p:spPr>
      </p:sp>
      <p:sp>
        <p:nvSpPr>
          <p:cNvPr id="7" name="Shape 5"/>
          <p:cNvSpPr/>
          <p:nvPr/>
        </p:nvSpPr>
        <p:spPr>
          <a:xfrm>
            <a:off x="228600" y="987552"/>
            <a:ext cx="2788920" cy="64008"/>
          </a:xfrm>
          <a:prstGeom prst="rect">
            <a:avLst/>
          </a:prstGeom>
          <a:solidFill>
            <a:srgbClr val="E84393"/>
          </a:solidFill>
          <a:ln w="12700">
            <a:solidFill>
              <a:srgbClr val="E84393"/>
            </a:solidFill>
            <a:prstDash val="solid"/>
          </a:ln>
        </p:spPr>
      </p:sp>
      <p:sp>
        <p:nvSpPr>
          <p:cNvPr id="8" name="Text 6"/>
          <p:cNvSpPr/>
          <p:nvPr/>
        </p:nvSpPr>
        <p:spPr>
          <a:xfrm>
            <a:off x="228600" y="1078992"/>
            <a:ext cx="502920" cy="411480"/>
          </a:xfrm>
          <a:prstGeom prst="rect">
            <a:avLst/>
          </a:prstGeom>
          <a:noFill/>
          <a:ln/>
        </p:spPr>
        <p:txBody>
          <a:bodyPr wrap="square" rtlCol="0" anchor="ctr"/>
          <a:lstStyle/>
          <a:p>
            <a:pPr marL="0" indent="0" algn="ctr">
              <a:buNone/>
            </a:pPr>
            <a:r>
              <a:rPr lang="en-US" sz="2000" b="1" dirty="0">
                <a:solidFill>
                  <a:srgbClr val="E84393"/>
                </a:solidFill>
                <a:latin typeface="Calibri" pitchFamily="34" charset="0"/>
                <a:ea typeface="Calibri" pitchFamily="34" charset="-122"/>
                <a:cs typeface="Calibri" pitchFamily="34" charset="-120"/>
              </a:rPr>
              <a:t>01</a:t>
            </a:r>
            <a:endParaRPr lang="en-US" sz="2000" dirty="0"/>
          </a:p>
        </p:txBody>
      </p:sp>
      <p:sp>
        <p:nvSpPr>
          <p:cNvPr id="9" name="Text 7"/>
          <p:cNvSpPr/>
          <p:nvPr/>
        </p:nvSpPr>
        <p:spPr>
          <a:xfrm>
            <a:off x="777240" y="1097280"/>
            <a:ext cx="2148840" cy="29260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Company Overview</a:t>
            </a:r>
            <a:endParaRPr lang="en-US" sz="1000" dirty="0"/>
          </a:p>
        </p:txBody>
      </p:sp>
      <p:sp>
        <p:nvSpPr>
          <p:cNvPr id="10" name="Text 8"/>
          <p:cNvSpPr/>
          <p:nvPr/>
        </p:nvSpPr>
        <p:spPr>
          <a:xfrm>
            <a:off x="777240" y="1417320"/>
            <a:ext cx="2148840" cy="502920"/>
          </a:xfrm>
          <a:prstGeom prst="rect">
            <a:avLst/>
          </a:prstGeom>
          <a:noFill/>
          <a:ln/>
        </p:spPr>
        <p:txBody>
          <a:bodyPr wrap="square" rtlCol="0" anchor="ctr"/>
          <a:lstStyle/>
          <a:p>
            <a:pPr marL="0" indent="0">
              <a:buNone/>
            </a:pPr>
            <a:r>
              <a:rPr lang="en-US" sz="780" dirty="0">
                <a:solidFill>
                  <a:srgbClr val="A0AEC0"/>
                </a:solidFill>
                <a:latin typeface="Calibri" pitchFamily="34" charset="0"/>
                <a:ea typeface="Calibri" pitchFamily="34" charset="-122"/>
                <a:cs typeface="Calibri" pitchFamily="34" charset="-120"/>
              </a:rPr>
              <a:t>Business segments, brand story &amp; key financial highlights</a:t>
            </a:r>
            <a:endParaRPr lang="en-US" sz="780" dirty="0"/>
          </a:p>
        </p:txBody>
      </p:sp>
      <p:sp>
        <p:nvSpPr>
          <p:cNvPr id="11" name="Shape 9"/>
          <p:cNvSpPr/>
          <p:nvPr/>
        </p:nvSpPr>
        <p:spPr>
          <a:xfrm>
            <a:off x="3172968" y="987552"/>
            <a:ext cx="2788920" cy="1188720"/>
          </a:xfrm>
          <a:prstGeom prst="rect">
            <a:avLst/>
          </a:prstGeom>
          <a:solidFill>
            <a:srgbClr val="2D3561"/>
          </a:solidFill>
          <a:ln w="10160">
            <a:solidFill>
              <a:srgbClr val="00C896"/>
            </a:solidFill>
            <a:prstDash val="solid"/>
          </a:ln>
          <a:effectLst>
            <a:outerShdw blurRad="101600" dist="38100" dir="8100000" algn="bl" rotWithShape="0">
              <a:srgbClr val="000000">
                <a:alpha val="25000"/>
              </a:srgbClr>
            </a:outerShdw>
          </a:effectLst>
        </p:spPr>
      </p:sp>
      <p:sp>
        <p:nvSpPr>
          <p:cNvPr id="12" name="Shape 10"/>
          <p:cNvSpPr/>
          <p:nvPr/>
        </p:nvSpPr>
        <p:spPr>
          <a:xfrm>
            <a:off x="3172968" y="987552"/>
            <a:ext cx="2788920" cy="64008"/>
          </a:xfrm>
          <a:prstGeom prst="rect">
            <a:avLst/>
          </a:prstGeom>
          <a:solidFill>
            <a:srgbClr val="00C896"/>
          </a:solidFill>
          <a:ln w="12700">
            <a:solidFill>
              <a:srgbClr val="00C896"/>
            </a:solidFill>
            <a:prstDash val="solid"/>
          </a:ln>
        </p:spPr>
      </p:sp>
      <p:sp>
        <p:nvSpPr>
          <p:cNvPr id="13" name="Text 11"/>
          <p:cNvSpPr/>
          <p:nvPr/>
        </p:nvSpPr>
        <p:spPr>
          <a:xfrm>
            <a:off x="3172968" y="1078992"/>
            <a:ext cx="502920" cy="411480"/>
          </a:xfrm>
          <a:prstGeom prst="rect">
            <a:avLst/>
          </a:prstGeom>
          <a:noFill/>
          <a:ln/>
        </p:spPr>
        <p:txBody>
          <a:bodyPr wrap="square" rtlCol="0" anchor="ctr"/>
          <a:lstStyle/>
          <a:p>
            <a:pPr marL="0" indent="0" algn="ctr">
              <a:buNone/>
            </a:pPr>
            <a:r>
              <a:rPr lang="en-US" sz="2000" b="1" dirty="0">
                <a:solidFill>
                  <a:srgbClr val="00C896"/>
                </a:solidFill>
                <a:latin typeface="Calibri" pitchFamily="34" charset="0"/>
                <a:ea typeface="Calibri" pitchFamily="34" charset="-122"/>
                <a:cs typeface="Calibri" pitchFamily="34" charset="-120"/>
              </a:rPr>
              <a:t>02</a:t>
            </a:r>
            <a:endParaRPr lang="en-US" sz="2000" dirty="0"/>
          </a:p>
        </p:txBody>
      </p:sp>
      <p:sp>
        <p:nvSpPr>
          <p:cNvPr id="14" name="Text 12"/>
          <p:cNvSpPr/>
          <p:nvPr/>
        </p:nvSpPr>
        <p:spPr>
          <a:xfrm>
            <a:off x="3721608" y="1097280"/>
            <a:ext cx="2148840" cy="29260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Liquidity Ratios</a:t>
            </a:r>
            <a:endParaRPr lang="en-US" sz="1000" dirty="0"/>
          </a:p>
        </p:txBody>
      </p:sp>
      <p:sp>
        <p:nvSpPr>
          <p:cNvPr id="15" name="Text 13"/>
          <p:cNvSpPr/>
          <p:nvPr/>
        </p:nvSpPr>
        <p:spPr>
          <a:xfrm>
            <a:off x="3721608" y="1417320"/>
            <a:ext cx="2148840" cy="502920"/>
          </a:xfrm>
          <a:prstGeom prst="rect">
            <a:avLst/>
          </a:prstGeom>
          <a:noFill/>
          <a:ln/>
        </p:spPr>
        <p:txBody>
          <a:bodyPr wrap="square" rtlCol="0" anchor="ctr"/>
          <a:lstStyle/>
          <a:p>
            <a:pPr marL="0" indent="0">
              <a:buNone/>
            </a:pPr>
            <a:r>
              <a:rPr lang="en-US" sz="780" dirty="0">
                <a:solidFill>
                  <a:srgbClr val="A0AEC0"/>
                </a:solidFill>
                <a:latin typeface="Calibri" pitchFamily="34" charset="0"/>
                <a:ea typeface="Calibri" pitchFamily="34" charset="-122"/>
                <a:cs typeface="Calibri" pitchFamily="34" charset="-120"/>
              </a:rPr>
              <a:t>Current Ratio, Quick Ratio, Cash Ratio, NWC, BDR</a:t>
            </a:r>
            <a:endParaRPr lang="en-US" sz="780" dirty="0"/>
          </a:p>
        </p:txBody>
      </p:sp>
      <p:sp>
        <p:nvSpPr>
          <p:cNvPr id="16" name="Shape 14"/>
          <p:cNvSpPr/>
          <p:nvPr/>
        </p:nvSpPr>
        <p:spPr>
          <a:xfrm>
            <a:off x="6117336" y="987552"/>
            <a:ext cx="2788920" cy="1188720"/>
          </a:xfrm>
          <a:prstGeom prst="rect">
            <a:avLst/>
          </a:prstGeom>
          <a:solidFill>
            <a:srgbClr val="2D3561"/>
          </a:solidFill>
          <a:ln w="10160">
            <a:solidFill>
              <a:srgbClr val="FC6404"/>
            </a:solidFill>
            <a:prstDash val="solid"/>
          </a:ln>
          <a:effectLst>
            <a:outerShdw blurRad="101600" dist="38100" dir="8100000" algn="bl" rotWithShape="0">
              <a:srgbClr val="000000">
                <a:alpha val="25000"/>
              </a:srgbClr>
            </a:outerShdw>
          </a:effectLst>
        </p:spPr>
      </p:sp>
      <p:sp>
        <p:nvSpPr>
          <p:cNvPr id="17" name="Shape 15"/>
          <p:cNvSpPr/>
          <p:nvPr/>
        </p:nvSpPr>
        <p:spPr>
          <a:xfrm>
            <a:off x="6117336" y="987552"/>
            <a:ext cx="2788920" cy="64008"/>
          </a:xfrm>
          <a:prstGeom prst="rect">
            <a:avLst/>
          </a:prstGeom>
          <a:solidFill>
            <a:srgbClr val="FC6404"/>
          </a:solidFill>
          <a:ln w="12700">
            <a:solidFill>
              <a:srgbClr val="FC6404"/>
            </a:solidFill>
            <a:prstDash val="solid"/>
          </a:ln>
        </p:spPr>
      </p:sp>
      <p:sp>
        <p:nvSpPr>
          <p:cNvPr id="18" name="Text 16"/>
          <p:cNvSpPr/>
          <p:nvPr/>
        </p:nvSpPr>
        <p:spPr>
          <a:xfrm>
            <a:off x="6117336" y="1078992"/>
            <a:ext cx="502920" cy="411480"/>
          </a:xfrm>
          <a:prstGeom prst="rect">
            <a:avLst/>
          </a:prstGeom>
          <a:noFill/>
          <a:ln/>
        </p:spPr>
        <p:txBody>
          <a:bodyPr wrap="square" rtlCol="0" anchor="ctr"/>
          <a:lstStyle/>
          <a:p>
            <a:pPr marL="0" indent="0" algn="ctr">
              <a:buNone/>
            </a:pPr>
            <a:r>
              <a:rPr lang="en-US" sz="2000" b="1" dirty="0">
                <a:solidFill>
                  <a:srgbClr val="FC6404"/>
                </a:solidFill>
                <a:latin typeface="Calibri" pitchFamily="34" charset="0"/>
                <a:ea typeface="Calibri" pitchFamily="34" charset="-122"/>
                <a:cs typeface="Calibri" pitchFamily="34" charset="-120"/>
              </a:rPr>
              <a:t>03</a:t>
            </a:r>
            <a:endParaRPr lang="en-US" sz="2000" dirty="0"/>
          </a:p>
        </p:txBody>
      </p:sp>
      <p:sp>
        <p:nvSpPr>
          <p:cNvPr id="19" name="Text 17"/>
          <p:cNvSpPr/>
          <p:nvPr/>
        </p:nvSpPr>
        <p:spPr>
          <a:xfrm>
            <a:off x="6665976" y="1097280"/>
            <a:ext cx="2148840" cy="29260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Solvency &amp; Coverage Ratios</a:t>
            </a:r>
            <a:endParaRPr lang="en-US" sz="1000" dirty="0"/>
          </a:p>
        </p:txBody>
      </p:sp>
      <p:sp>
        <p:nvSpPr>
          <p:cNvPr id="20" name="Text 18"/>
          <p:cNvSpPr/>
          <p:nvPr/>
        </p:nvSpPr>
        <p:spPr>
          <a:xfrm>
            <a:off x="6665976" y="1417320"/>
            <a:ext cx="2148840" cy="502920"/>
          </a:xfrm>
          <a:prstGeom prst="rect">
            <a:avLst/>
          </a:prstGeom>
          <a:noFill/>
          <a:ln/>
        </p:spPr>
        <p:txBody>
          <a:bodyPr wrap="square" rtlCol="0" anchor="ctr"/>
          <a:lstStyle/>
          <a:p>
            <a:pPr marL="0" indent="0">
              <a:buNone/>
            </a:pPr>
            <a:r>
              <a:rPr lang="en-US" sz="780" dirty="0">
                <a:solidFill>
                  <a:srgbClr val="A0AEC0"/>
                </a:solidFill>
                <a:latin typeface="Calibri" pitchFamily="34" charset="0"/>
                <a:ea typeface="Calibri" pitchFamily="34" charset="-122"/>
                <a:cs typeface="Calibri" pitchFamily="34" charset="-120"/>
              </a:rPr>
              <a:t>Debt-Equity, ICR, DSCR, FCCR &amp; Proprietary Ratio</a:t>
            </a:r>
            <a:endParaRPr lang="en-US" sz="780" dirty="0"/>
          </a:p>
        </p:txBody>
      </p:sp>
      <p:sp>
        <p:nvSpPr>
          <p:cNvPr id="21" name="Shape 19"/>
          <p:cNvSpPr/>
          <p:nvPr/>
        </p:nvSpPr>
        <p:spPr>
          <a:xfrm>
            <a:off x="228600" y="2340864"/>
            <a:ext cx="2788920" cy="1188720"/>
          </a:xfrm>
          <a:prstGeom prst="rect">
            <a:avLst/>
          </a:prstGeom>
          <a:solidFill>
            <a:srgbClr val="2D3561"/>
          </a:solidFill>
          <a:ln w="10160">
            <a:solidFill>
              <a:srgbClr val="FACC15"/>
            </a:solidFill>
            <a:prstDash val="solid"/>
          </a:ln>
          <a:effectLst>
            <a:outerShdw blurRad="101600" dist="38100" dir="8100000" algn="bl" rotWithShape="0">
              <a:srgbClr val="000000">
                <a:alpha val="25000"/>
              </a:srgbClr>
            </a:outerShdw>
          </a:effectLst>
        </p:spPr>
      </p:sp>
      <p:sp>
        <p:nvSpPr>
          <p:cNvPr id="22" name="Shape 20"/>
          <p:cNvSpPr/>
          <p:nvPr/>
        </p:nvSpPr>
        <p:spPr>
          <a:xfrm>
            <a:off x="228600" y="2340864"/>
            <a:ext cx="2788920" cy="64008"/>
          </a:xfrm>
          <a:prstGeom prst="rect">
            <a:avLst/>
          </a:prstGeom>
          <a:solidFill>
            <a:srgbClr val="FACC15"/>
          </a:solidFill>
          <a:ln w="12700">
            <a:solidFill>
              <a:srgbClr val="FACC15"/>
            </a:solidFill>
            <a:prstDash val="solid"/>
          </a:ln>
        </p:spPr>
      </p:sp>
      <p:sp>
        <p:nvSpPr>
          <p:cNvPr id="23" name="Text 21"/>
          <p:cNvSpPr/>
          <p:nvPr/>
        </p:nvSpPr>
        <p:spPr>
          <a:xfrm>
            <a:off x="228600" y="2432304"/>
            <a:ext cx="502920" cy="411480"/>
          </a:xfrm>
          <a:prstGeom prst="rect">
            <a:avLst/>
          </a:prstGeom>
          <a:noFill/>
          <a:ln/>
        </p:spPr>
        <p:txBody>
          <a:bodyPr wrap="square" rtlCol="0" anchor="ctr"/>
          <a:lstStyle/>
          <a:p>
            <a:pPr marL="0" indent="0" algn="ctr">
              <a:buNone/>
            </a:pPr>
            <a:r>
              <a:rPr lang="en-US" sz="2000" b="1" dirty="0">
                <a:solidFill>
                  <a:srgbClr val="FACC15"/>
                </a:solidFill>
                <a:latin typeface="Calibri" pitchFamily="34" charset="0"/>
                <a:ea typeface="Calibri" pitchFamily="34" charset="-122"/>
                <a:cs typeface="Calibri" pitchFamily="34" charset="-120"/>
              </a:rPr>
              <a:t>04</a:t>
            </a:r>
            <a:endParaRPr lang="en-US" sz="2000" dirty="0"/>
          </a:p>
        </p:txBody>
      </p:sp>
      <p:sp>
        <p:nvSpPr>
          <p:cNvPr id="24" name="Text 22"/>
          <p:cNvSpPr/>
          <p:nvPr/>
        </p:nvSpPr>
        <p:spPr>
          <a:xfrm>
            <a:off x="777240" y="2450592"/>
            <a:ext cx="2148840" cy="29260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Efficiency Ratios – Part 1</a:t>
            </a:r>
            <a:endParaRPr lang="en-US" sz="1000" dirty="0"/>
          </a:p>
        </p:txBody>
      </p:sp>
      <p:sp>
        <p:nvSpPr>
          <p:cNvPr id="25" name="Text 23"/>
          <p:cNvSpPr/>
          <p:nvPr/>
        </p:nvSpPr>
        <p:spPr>
          <a:xfrm>
            <a:off x="777240" y="2770632"/>
            <a:ext cx="2148840" cy="502920"/>
          </a:xfrm>
          <a:prstGeom prst="rect">
            <a:avLst/>
          </a:prstGeom>
          <a:noFill/>
          <a:ln/>
        </p:spPr>
        <p:txBody>
          <a:bodyPr wrap="square" rtlCol="0" anchor="ctr"/>
          <a:lstStyle/>
          <a:p>
            <a:pPr marL="0" indent="0">
              <a:buNone/>
            </a:pPr>
            <a:r>
              <a:rPr lang="en-US" sz="780" dirty="0">
                <a:solidFill>
                  <a:srgbClr val="A0AEC0"/>
                </a:solidFill>
                <a:latin typeface="Calibri" pitchFamily="34" charset="0"/>
                <a:ea typeface="Calibri" pitchFamily="34" charset="-122"/>
                <a:cs typeface="Calibri" pitchFamily="34" charset="-120"/>
              </a:rPr>
              <a:t>Asset Turnover, Inventory Days, Debtors &amp; Collection Period</a:t>
            </a:r>
            <a:endParaRPr lang="en-US" sz="780" dirty="0"/>
          </a:p>
        </p:txBody>
      </p:sp>
      <p:sp>
        <p:nvSpPr>
          <p:cNvPr id="26" name="Shape 24"/>
          <p:cNvSpPr/>
          <p:nvPr/>
        </p:nvSpPr>
        <p:spPr>
          <a:xfrm>
            <a:off x="3172968" y="2340864"/>
            <a:ext cx="2788920" cy="1188720"/>
          </a:xfrm>
          <a:prstGeom prst="rect">
            <a:avLst/>
          </a:prstGeom>
          <a:solidFill>
            <a:srgbClr val="2D3561"/>
          </a:solidFill>
          <a:ln w="10160">
            <a:solidFill>
              <a:srgbClr val="E84393"/>
            </a:solidFill>
            <a:prstDash val="solid"/>
          </a:ln>
          <a:effectLst>
            <a:outerShdw blurRad="101600" dist="38100" dir="8100000" algn="bl" rotWithShape="0">
              <a:srgbClr val="000000">
                <a:alpha val="25000"/>
              </a:srgbClr>
            </a:outerShdw>
          </a:effectLst>
        </p:spPr>
      </p:sp>
      <p:sp>
        <p:nvSpPr>
          <p:cNvPr id="27" name="Shape 25"/>
          <p:cNvSpPr/>
          <p:nvPr/>
        </p:nvSpPr>
        <p:spPr>
          <a:xfrm>
            <a:off x="3172968" y="2340864"/>
            <a:ext cx="2788920" cy="64008"/>
          </a:xfrm>
          <a:prstGeom prst="rect">
            <a:avLst/>
          </a:prstGeom>
          <a:solidFill>
            <a:srgbClr val="E84393"/>
          </a:solidFill>
          <a:ln w="12700">
            <a:solidFill>
              <a:srgbClr val="E84393"/>
            </a:solidFill>
            <a:prstDash val="solid"/>
          </a:ln>
        </p:spPr>
      </p:sp>
      <p:sp>
        <p:nvSpPr>
          <p:cNvPr id="28" name="Text 26"/>
          <p:cNvSpPr/>
          <p:nvPr/>
        </p:nvSpPr>
        <p:spPr>
          <a:xfrm>
            <a:off x="3172968" y="2432304"/>
            <a:ext cx="502920" cy="411480"/>
          </a:xfrm>
          <a:prstGeom prst="rect">
            <a:avLst/>
          </a:prstGeom>
          <a:noFill/>
          <a:ln/>
        </p:spPr>
        <p:txBody>
          <a:bodyPr wrap="square" rtlCol="0" anchor="ctr"/>
          <a:lstStyle/>
          <a:p>
            <a:pPr marL="0" indent="0" algn="ctr">
              <a:buNone/>
            </a:pPr>
            <a:r>
              <a:rPr lang="en-US" sz="2000" b="1" dirty="0">
                <a:solidFill>
                  <a:srgbClr val="E84393"/>
                </a:solidFill>
                <a:latin typeface="Calibri" pitchFamily="34" charset="0"/>
                <a:ea typeface="Calibri" pitchFamily="34" charset="-122"/>
                <a:cs typeface="Calibri" pitchFamily="34" charset="-120"/>
              </a:rPr>
              <a:t>05</a:t>
            </a:r>
            <a:endParaRPr lang="en-US" sz="2000" dirty="0"/>
          </a:p>
        </p:txBody>
      </p:sp>
      <p:sp>
        <p:nvSpPr>
          <p:cNvPr id="29" name="Text 27"/>
          <p:cNvSpPr/>
          <p:nvPr/>
        </p:nvSpPr>
        <p:spPr>
          <a:xfrm>
            <a:off x="3721608" y="2450592"/>
            <a:ext cx="2148840" cy="29260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Efficiency Ratios – Part 2</a:t>
            </a:r>
            <a:endParaRPr lang="en-US" sz="1000" dirty="0"/>
          </a:p>
        </p:txBody>
      </p:sp>
      <p:sp>
        <p:nvSpPr>
          <p:cNvPr id="30" name="Text 28"/>
          <p:cNvSpPr/>
          <p:nvPr/>
        </p:nvSpPr>
        <p:spPr>
          <a:xfrm>
            <a:off x="3721608" y="2770632"/>
            <a:ext cx="2148840" cy="502920"/>
          </a:xfrm>
          <a:prstGeom prst="rect">
            <a:avLst/>
          </a:prstGeom>
          <a:noFill/>
          <a:ln/>
        </p:spPr>
        <p:txBody>
          <a:bodyPr wrap="square" rtlCol="0" anchor="ctr"/>
          <a:lstStyle/>
          <a:p>
            <a:pPr marL="0" indent="0">
              <a:buNone/>
            </a:pPr>
            <a:r>
              <a:rPr lang="en-US" sz="780" dirty="0">
                <a:solidFill>
                  <a:srgbClr val="A0AEC0"/>
                </a:solidFill>
                <a:latin typeface="Calibri" pitchFamily="34" charset="0"/>
                <a:ea typeface="Calibri" pitchFamily="34" charset="-122"/>
                <a:cs typeface="Calibri" pitchFamily="34" charset="-120"/>
              </a:rPr>
              <a:t>Working Capital, Current Assets &amp; Creditors Turnover</a:t>
            </a:r>
            <a:endParaRPr lang="en-US" sz="780" dirty="0"/>
          </a:p>
        </p:txBody>
      </p:sp>
      <p:sp>
        <p:nvSpPr>
          <p:cNvPr id="31" name="Shape 29"/>
          <p:cNvSpPr/>
          <p:nvPr/>
        </p:nvSpPr>
        <p:spPr>
          <a:xfrm>
            <a:off x="6117336" y="2340864"/>
            <a:ext cx="2788920" cy="1188720"/>
          </a:xfrm>
          <a:prstGeom prst="rect">
            <a:avLst/>
          </a:prstGeom>
          <a:solidFill>
            <a:srgbClr val="2D3561"/>
          </a:solidFill>
          <a:ln w="10160">
            <a:solidFill>
              <a:srgbClr val="00C896"/>
            </a:solidFill>
            <a:prstDash val="solid"/>
          </a:ln>
          <a:effectLst>
            <a:outerShdw blurRad="101600" dist="38100" dir="8100000" algn="bl" rotWithShape="0">
              <a:srgbClr val="000000">
                <a:alpha val="25000"/>
              </a:srgbClr>
            </a:outerShdw>
          </a:effectLst>
        </p:spPr>
      </p:sp>
      <p:sp>
        <p:nvSpPr>
          <p:cNvPr id="32" name="Shape 30"/>
          <p:cNvSpPr/>
          <p:nvPr/>
        </p:nvSpPr>
        <p:spPr>
          <a:xfrm>
            <a:off x="6117336" y="2340864"/>
            <a:ext cx="2788920" cy="64008"/>
          </a:xfrm>
          <a:prstGeom prst="rect">
            <a:avLst/>
          </a:prstGeom>
          <a:solidFill>
            <a:srgbClr val="00C896"/>
          </a:solidFill>
          <a:ln w="12700">
            <a:solidFill>
              <a:srgbClr val="00C896"/>
            </a:solidFill>
            <a:prstDash val="solid"/>
          </a:ln>
        </p:spPr>
      </p:sp>
      <p:sp>
        <p:nvSpPr>
          <p:cNvPr id="33" name="Text 31"/>
          <p:cNvSpPr/>
          <p:nvPr/>
        </p:nvSpPr>
        <p:spPr>
          <a:xfrm>
            <a:off x="6117336" y="2432304"/>
            <a:ext cx="502920" cy="411480"/>
          </a:xfrm>
          <a:prstGeom prst="rect">
            <a:avLst/>
          </a:prstGeom>
          <a:noFill/>
          <a:ln/>
        </p:spPr>
        <p:txBody>
          <a:bodyPr wrap="square" rtlCol="0" anchor="ctr"/>
          <a:lstStyle/>
          <a:p>
            <a:pPr marL="0" indent="0" algn="ctr">
              <a:buNone/>
            </a:pPr>
            <a:r>
              <a:rPr lang="en-US" sz="2000" b="1" dirty="0">
                <a:solidFill>
                  <a:srgbClr val="00C896"/>
                </a:solidFill>
                <a:latin typeface="Calibri" pitchFamily="34" charset="0"/>
                <a:ea typeface="Calibri" pitchFamily="34" charset="-122"/>
                <a:cs typeface="Calibri" pitchFamily="34" charset="-120"/>
              </a:rPr>
              <a:t>06</a:t>
            </a:r>
            <a:endParaRPr lang="en-US" sz="2000" dirty="0"/>
          </a:p>
        </p:txBody>
      </p:sp>
      <p:sp>
        <p:nvSpPr>
          <p:cNvPr id="34" name="Text 32"/>
          <p:cNvSpPr/>
          <p:nvPr/>
        </p:nvSpPr>
        <p:spPr>
          <a:xfrm>
            <a:off x="6665976" y="2450592"/>
            <a:ext cx="2148840" cy="29260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Profitability Ratios – Part 1</a:t>
            </a:r>
            <a:endParaRPr lang="en-US" sz="1000" dirty="0"/>
          </a:p>
        </p:txBody>
      </p:sp>
      <p:sp>
        <p:nvSpPr>
          <p:cNvPr id="35" name="Text 33"/>
          <p:cNvSpPr/>
          <p:nvPr/>
        </p:nvSpPr>
        <p:spPr>
          <a:xfrm>
            <a:off x="6665976" y="2770632"/>
            <a:ext cx="2148840" cy="502920"/>
          </a:xfrm>
          <a:prstGeom prst="rect">
            <a:avLst/>
          </a:prstGeom>
          <a:noFill/>
          <a:ln/>
        </p:spPr>
        <p:txBody>
          <a:bodyPr wrap="square" rtlCol="0" anchor="ctr"/>
          <a:lstStyle/>
          <a:p>
            <a:pPr marL="0" indent="0">
              <a:buNone/>
            </a:pPr>
            <a:r>
              <a:rPr lang="en-US" sz="780" dirty="0">
                <a:solidFill>
                  <a:srgbClr val="A0AEC0"/>
                </a:solidFill>
                <a:latin typeface="Calibri" pitchFamily="34" charset="0"/>
                <a:ea typeface="Calibri" pitchFamily="34" charset="-122"/>
                <a:cs typeface="Calibri" pitchFamily="34" charset="-120"/>
              </a:rPr>
              <a:t>Gross Profit, Operating Profit, Net Profit, ROE &amp; ROCE</a:t>
            </a:r>
            <a:endParaRPr lang="en-US" sz="780" dirty="0"/>
          </a:p>
        </p:txBody>
      </p:sp>
      <p:sp>
        <p:nvSpPr>
          <p:cNvPr id="36" name="Shape 34"/>
          <p:cNvSpPr/>
          <p:nvPr/>
        </p:nvSpPr>
        <p:spPr>
          <a:xfrm>
            <a:off x="228600" y="3694176"/>
            <a:ext cx="2788920" cy="1188720"/>
          </a:xfrm>
          <a:prstGeom prst="rect">
            <a:avLst/>
          </a:prstGeom>
          <a:solidFill>
            <a:srgbClr val="2D3561"/>
          </a:solidFill>
          <a:ln w="10160">
            <a:solidFill>
              <a:srgbClr val="FC6404"/>
            </a:solidFill>
            <a:prstDash val="solid"/>
          </a:ln>
          <a:effectLst>
            <a:outerShdw blurRad="101600" dist="38100" dir="8100000" algn="bl" rotWithShape="0">
              <a:srgbClr val="000000">
                <a:alpha val="25000"/>
              </a:srgbClr>
            </a:outerShdw>
          </a:effectLst>
        </p:spPr>
      </p:sp>
      <p:sp>
        <p:nvSpPr>
          <p:cNvPr id="37" name="Shape 35"/>
          <p:cNvSpPr/>
          <p:nvPr/>
        </p:nvSpPr>
        <p:spPr>
          <a:xfrm>
            <a:off x="228600" y="3694176"/>
            <a:ext cx="2788920" cy="64008"/>
          </a:xfrm>
          <a:prstGeom prst="rect">
            <a:avLst/>
          </a:prstGeom>
          <a:solidFill>
            <a:srgbClr val="FC6404"/>
          </a:solidFill>
          <a:ln w="12700">
            <a:solidFill>
              <a:srgbClr val="FC6404"/>
            </a:solidFill>
            <a:prstDash val="solid"/>
          </a:ln>
        </p:spPr>
      </p:sp>
      <p:sp>
        <p:nvSpPr>
          <p:cNvPr id="38" name="Text 36"/>
          <p:cNvSpPr/>
          <p:nvPr/>
        </p:nvSpPr>
        <p:spPr>
          <a:xfrm>
            <a:off x="228600" y="3785616"/>
            <a:ext cx="502920" cy="411480"/>
          </a:xfrm>
          <a:prstGeom prst="rect">
            <a:avLst/>
          </a:prstGeom>
          <a:noFill/>
          <a:ln/>
        </p:spPr>
        <p:txBody>
          <a:bodyPr wrap="square" rtlCol="0" anchor="ctr"/>
          <a:lstStyle/>
          <a:p>
            <a:pPr marL="0" indent="0" algn="ctr">
              <a:buNone/>
            </a:pPr>
            <a:r>
              <a:rPr lang="en-US" sz="2000" b="1" dirty="0">
                <a:solidFill>
                  <a:srgbClr val="FC6404"/>
                </a:solidFill>
                <a:latin typeface="Calibri" pitchFamily="34" charset="0"/>
                <a:ea typeface="Calibri" pitchFamily="34" charset="-122"/>
                <a:cs typeface="Calibri" pitchFamily="34" charset="-120"/>
              </a:rPr>
              <a:t>07</a:t>
            </a:r>
            <a:endParaRPr lang="en-US" sz="2000" dirty="0"/>
          </a:p>
        </p:txBody>
      </p:sp>
      <p:sp>
        <p:nvSpPr>
          <p:cNvPr id="39" name="Text 37"/>
          <p:cNvSpPr/>
          <p:nvPr/>
        </p:nvSpPr>
        <p:spPr>
          <a:xfrm>
            <a:off x="777240" y="3803904"/>
            <a:ext cx="2148840" cy="29260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Profitability Ratios – Part 2</a:t>
            </a:r>
            <a:endParaRPr lang="en-US" sz="1000" dirty="0"/>
          </a:p>
        </p:txBody>
      </p:sp>
      <p:sp>
        <p:nvSpPr>
          <p:cNvPr id="40" name="Text 38"/>
          <p:cNvSpPr/>
          <p:nvPr/>
        </p:nvSpPr>
        <p:spPr>
          <a:xfrm>
            <a:off x="777240" y="4123944"/>
            <a:ext cx="2148840" cy="502920"/>
          </a:xfrm>
          <a:prstGeom prst="rect">
            <a:avLst/>
          </a:prstGeom>
          <a:noFill/>
          <a:ln/>
        </p:spPr>
        <p:txBody>
          <a:bodyPr wrap="square" rtlCol="0" anchor="ctr"/>
          <a:lstStyle/>
          <a:p>
            <a:pPr marL="0" indent="0">
              <a:buNone/>
            </a:pPr>
            <a:r>
              <a:rPr lang="en-US" sz="780" dirty="0">
                <a:solidFill>
                  <a:srgbClr val="A0AEC0"/>
                </a:solidFill>
                <a:latin typeface="Calibri" pitchFamily="34" charset="0"/>
                <a:ea typeface="Calibri" pitchFamily="34" charset="-122"/>
                <a:cs typeface="Calibri" pitchFamily="34" charset="-120"/>
              </a:rPr>
              <a:t>EPS, Expense Ratio, ROA, ROI &amp; P/E Ratio</a:t>
            </a:r>
            <a:endParaRPr lang="en-US" sz="780" dirty="0"/>
          </a:p>
        </p:txBody>
      </p:sp>
      <p:sp>
        <p:nvSpPr>
          <p:cNvPr id="41" name="Shape 39"/>
          <p:cNvSpPr/>
          <p:nvPr/>
        </p:nvSpPr>
        <p:spPr>
          <a:xfrm>
            <a:off x="3172968" y="3694176"/>
            <a:ext cx="2788920" cy="1188720"/>
          </a:xfrm>
          <a:prstGeom prst="rect">
            <a:avLst/>
          </a:prstGeom>
          <a:solidFill>
            <a:srgbClr val="2D3561"/>
          </a:solidFill>
          <a:ln w="10160">
            <a:solidFill>
              <a:srgbClr val="FACC15"/>
            </a:solidFill>
            <a:prstDash val="solid"/>
          </a:ln>
          <a:effectLst>
            <a:outerShdw blurRad="101600" dist="38100" dir="8100000" algn="bl" rotWithShape="0">
              <a:srgbClr val="000000">
                <a:alpha val="25000"/>
              </a:srgbClr>
            </a:outerShdw>
          </a:effectLst>
        </p:spPr>
      </p:sp>
      <p:sp>
        <p:nvSpPr>
          <p:cNvPr id="42" name="Shape 40"/>
          <p:cNvSpPr/>
          <p:nvPr/>
        </p:nvSpPr>
        <p:spPr>
          <a:xfrm>
            <a:off x="3172968" y="3694176"/>
            <a:ext cx="2788920" cy="64008"/>
          </a:xfrm>
          <a:prstGeom prst="rect">
            <a:avLst/>
          </a:prstGeom>
          <a:solidFill>
            <a:srgbClr val="FACC15"/>
          </a:solidFill>
          <a:ln w="12700">
            <a:solidFill>
              <a:srgbClr val="FACC15"/>
            </a:solidFill>
            <a:prstDash val="solid"/>
          </a:ln>
        </p:spPr>
      </p:sp>
      <p:sp>
        <p:nvSpPr>
          <p:cNvPr id="43" name="Text 41"/>
          <p:cNvSpPr/>
          <p:nvPr/>
        </p:nvSpPr>
        <p:spPr>
          <a:xfrm>
            <a:off x="3172968" y="3785616"/>
            <a:ext cx="502920" cy="411480"/>
          </a:xfrm>
          <a:prstGeom prst="rect">
            <a:avLst/>
          </a:prstGeom>
          <a:noFill/>
          <a:ln/>
        </p:spPr>
        <p:txBody>
          <a:bodyPr wrap="square" rtlCol="0" anchor="ctr"/>
          <a:lstStyle/>
          <a:p>
            <a:pPr marL="0" indent="0" algn="ctr">
              <a:buNone/>
            </a:pPr>
            <a:r>
              <a:rPr lang="en-US" sz="2000" b="1" dirty="0">
                <a:solidFill>
                  <a:srgbClr val="FACC15"/>
                </a:solidFill>
                <a:latin typeface="Calibri" pitchFamily="34" charset="0"/>
                <a:ea typeface="Calibri" pitchFamily="34" charset="-122"/>
                <a:cs typeface="Calibri" pitchFamily="34" charset="-120"/>
              </a:rPr>
              <a:t>08</a:t>
            </a:r>
            <a:endParaRPr lang="en-US" sz="2000" dirty="0"/>
          </a:p>
        </p:txBody>
      </p:sp>
      <p:sp>
        <p:nvSpPr>
          <p:cNvPr id="44" name="Text 42"/>
          <p:cNvSpPr/>
          <p:nvPr/>
        </p:nvSpPr>
        <p:spPr>
          <a:xfrm>
            <a:off x="3721608" y="3803904"/>
            <a:ext cx="2148840" cy="29260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DuPont Analysis</a:t>
            </a:r>
            <a:endParaRPr lang="en-US" sz="1000" dirty="0"/>
          </a:p>
        </p:txBody>
      </p:sp>
      <p:sp>
        <p:nvSpPr>
          <p:cNvPr id="45" name="Text 43"/>
          <p:cNvSpPr/>
          <p:nvPr/>
        </p:nvSpPr>
        <p:spPr>
          <a:xfrm>
            <a:off x="3721608" y="4123944"/>
            <a:ext cx="2148840" cy="502920"/>
          </a:xfrm>
          <a:prstGeom prst="rect">
            <a:avLst/>
          </a:prstGeom>
          <a:noFill/>
          <a:ln/>
        </p:spPr>
        <p:txBody>
          <a:bodyPr wrap="square" rtlCol="0" anchor="ctr"/>
          <a:lstStyle/>
          <a:p>
            <a:pPr marL="0" indent="0">
              <a:buNone/>
            </a:pPr>
            <a:r>
              <a:rPr lang="en-US" sz="780" dirty="0">
                <a:solidFill>
                  <a:srgbClr val="A0AEC0"/>
                </a:solidFill>
                <a:latin typeface="Calibri" pitchFamily="34" charset="0"/>
                <a:ea typeface="Calibri" pitchFamily="34" charset="-122"/>
                <a:cs typeface="Calibri" pitchFamily="34" charset="-120"/>
              </a:rPr>
              <a:t>ROE decomposed into Margin × Turnover × Leverage</a:t>
            </a:r>
            <a:endParaRPr lang="en-US" sz="780" dirty="0"/>
          </a:p>
        </p:txBody>
      </p:sp>
      <p:sp>
        <p:nvSpPr>
          <p:cNvPr id="46" name="Shape 44"/>
          <p:cNvSpPr/>
          <p:nvPr/>
        </p:nvSpPr>
        <p:spPr>
          <a:xfrm>
            <a:off x="6117336" y="3694176"/>
            <a:ext cx="2788920" cy="1188720"/>
          </a:xfrm>
          <a:prstGeom prst="rect">
            <a:avLst/>
          </a:prstGeom>
          <a:solidFill>
            <a:srgbClr val="2D3561"/>
          </a:solidFill>
          <a:ln w="10160">
            <a:solidFill>
              <a:srgbClr val="E84393"/>
            </a:solidFill>
            <a:prstDash val="solid"/>
          </a:ln>
          <a:effectLst>
            <a:outerShdw blurRad="101600" dist="38100" dir="8100000" algn="bl" rotWithShape="0">
              <a:srgbClr val="000000">
                <a:alpha val="25000"/>
              </a:srgbClr>
            </a:outerShdw>
          </a:effectLst>
        </p:spPr>
      </p:sp>
      <p:sp>
        <p:nvSpPr>
          <p:cNvPr id="47" name="Shape 45"/>
          <p:cNvSpPr/>
          <p:nvPr/>
        </p:nvSpPr>
        <p:spPr>
          <a:xfrm>
            <a:off x="6117336" y="3694176"/>
            <a:ext cx="2788920" cy="64008"/>
          </a:xfrm>
          <a:prstGeom prst="rect">
            <a:avLst/>
          </a:prstGeom>
          <a:solidFill>
            <a:srgbClr val="E84393"/>
          </a:solidFill>
          <a:ln w="12700">
            <a:solidFill>
              <a:srgbClr val="E84393"/>
            </a:solidFill>
            <a:prstDash val="solid"/>
          </a:ln>
        </p:spPr>
      </p:sp>
      <p:sp>
        <p:nvSpPr>
          <p:cNvPr id="48" name="Text 46"/>
          <p:cNvSpPr/>
          <p:nvPr/>
        </p:nvSpPr>
        <p:spPr>
          <a:xfrm>
            <a:off x="6117336" y="3785616"/>
            <a:ext cx="502920" cy="411480"/>
          </a:xfrm>
          <a:prstGeom prst="rect">
            <a:avLst/>
          </a:prstGeom>
          <a:noFill/>
          <a:ln/>
        </p:spPr>
        <p:txBody>
          <a:bodyPr wrap="square" rtlCol="0" anchor="ctr"/>
          <a:lstStyle/>
          <a:p>
            <a:pPr marL="0" indent="0" algn="ctr">
              <a:buNone/>
            </a:pPr>
            <a:r>
              <a:rPr lang="en-US" sz="2000" b="1" dirty="0">
                <a:solidFill>
                  <a:srgbClr val="E84393"/>
                </a:solidFill>
                <a:latin typeface="Calibri" pitchFamily="34" charset="0"/>
                <a:ea typeface="Calibri" pitchFamily="34" charset="-122"/>
                <a:cs typeface="Calibri" pitchFamily="34" charset="-120"/>
              </a:rPr>
              <a:t>09</a:t>
            </a:r>
            <a:endParaRPr lang="en-US" sz="2000" dirty="0"/>
          </a:p>
        </p:txBody>
      </p:sp>
      <p:sp>
        <p:nvSpPr>
          <p:cNvPr id="49" name="Text 47"/>
          <p:cNvSpPr/>
          <p:nvPr/>
        </p:nvSpPr>
        <p:spPr>
          <a:xfrm>
            <a:off x="6665976" y="3803904"/>
            <a:ext cx="2148840" cy="29260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Performance Summary &amp; Conclusion</a:t>
            </a:r>
            <a:endParaRPr lang="en-US" sz="1000" dirty="0"/>
          </a:p>
        </p:txBody>
      </p:sp>
      <p:sp>
        <p:nvSpPr>
          <p:cNvPr id="50" name="Text 48"/>
          <p:cNvSpPr/>
          <p:nvPr/>
        </p:nvSpPr>
        <p:spPr>
          <a:xfrm>
            <a:off x="6665976" y="4123944"/>
            <a:ext cx="2148840" cy="502920"/>
          </a:xfrm>
          <a:prstGeom prst="rect">
            <a:avLst/>
          </a:prstGeom>
          <a:noFill/>
          <a:ln/>
        </p:spPr>
        <p:txBody>
          <a:bodyPr wrap="square" rtlCol="0" anchor="ctr"/>
          <a:lstStyle/>
          <a:p>
            <a:pPr marL="0" indent="0">
              <a:buNone/>
            </a:pPr>
            <a:r>
              <a:rPr lang="en-US" sz="780" dirty="0">
                <a:solidFill>
                  <a:srgbClr val="A0AEC0"/>
                </a:solidFill>
                <a:latin typeface="Calibri" pitchFamily="34" charset="0"/>
                <a:ea typeface="Calibri" pitchFamily="34" charset="-122"/>
                <a:cs typeface="Calibri" pitchFamily="34" charset="-120"/>
              </a:rPr>
              <a:t>All ratios at a glance — ratings, trend &amp; strategic verdict</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F36"/>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84393"/>
          </a:solidFill>
          <a:ln w="12700">
            <a:solidFill>
              <a:srgbClr val="E84393"/>
            </a:solidFill>
            <a:prstDash val="solid"/>
          </a:ln>
        </p:spPr>
      </p:sp>
      <p:sp>
        <p:nvSpPr>
          <p:cNvPr id="3" name="Text 1"/>
          <p:cNvSpPr/>
          <p:nvPr/>
        </p:nvSpPr>
        <p:spPr>
          <a:xfrm>
            <a:off x="411480" y="109728"/>
            <a:ext cx="8321040" cy="47548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Liquidity Ratios</a:t>
            </a:r>
            <a:endParaRPr lang="en-US" sz="2000" dirty="0"/>
          </a:p>
        </p:txBody>
      </p:sp>
      <p:sp>
        <p:nvSpPr>
          <p:cNvPr id="4" name="Text 2"/>
          <p:cNvSpPr/>
          <p:nvPr/>
        </p:nvSpPr>
        <p:spPr>
          <a:xfrm>
            <a:off x="411480" y="566928"/>
            <a:ext cx="8321040" cy="256032"/>
          </a:xfrm>
          <a:prstGeom prst="rect">
            <a:avLst/>
          </a:prstGeom>
          <a:noFill/>
          <a:ln/>
        </p:spPr>
        <p:txBody>
          <a:bodyPr wrap="square" rtlCol="0" anchor="ctr"/>
          <a:lstStyle/>
          <a:p>
            <a:pPr marL="0" indent="0">
              <a:buNone/>
            </a:pPr>
            <a:r>
              <a:rPr lang="en-US" sz="1050" dirty="0">
                <a:solidFill>
                  <a:srgbClr val="A0AEC0"/>
                </a:solidFill>
                <a:latin typeface="Calibri" pitchFamily="34" charset="0"/>
                <a:ea typeface="Calibri" pitchFamily="34" charset="-122"/>
                <a:cs typeface="Calibri" pitchFamily="34" charset="-120"/>
              </a:rPr>
              <a:t>Can the company pay its short-term bills? → Higher is generally better  |  INR Crore</a:t>
            </a:r>
            <a:endParaRPr lang="en-US" sz="1050" dirty="0"/>
          </a:p>
        </p:txBody>
      </p:sp>
      <p:sp>
        <p:nvSpPr>
          <p:cNvPr id="5" name="Shape 3"/>
          <p:cNvSpPr/>
          <p:nvPr/>
        </p:nvSpPr>
        <p:spPr>
          <a:xfrm>
            <a:off x="411480" y="868680"/>
            <a:ext cx="8321040" cy="22860"/>
          </a:xfrm>
          <a:prstGeom prst="rect">
            <a:avLst/>
          </a:prstGeom>
          <a:solidFill>
            <a:srgbClr val="2D3561"/>
          </a:solidFill>
          <a:ln w="12700">
            <a:solidFill>
              <a:srgbClr val="2D3561"/>
            </a:solidFill>
            <a:prstDash val="solid"/>
          </a:ln>
        </p:spPr>
      </p:sp>
      <p:sp>
        <p:nvSpPr>
          <p:cNvPr id="6" name="Shape 4"/>
          <p:cNvSpPr/>
          <p:nvPr/>
        </p:nvSpPr>
        <p:spPr>
          <a:xfrm>
            <a:off x="274320" y="987552"/>
            <a:ext cx="1709928" cy="4023360"/>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7" name="Shape 5"/>
          <p:cNvSpPr/>
          <p:nvPr/>
        </p:nvSpPr>
        <p:spPr>
          <a:xfrm>
            <a:off x="274320" y="987552"/>
            <a:ext cx="45720" cy="4023360"/>
          </a:xfrm>
          <a:prstGeom prst="rect">
            <a:avLst/>
          </a:prstGeom>
          <a:solidFill>
            <a:srgbClr val="E84393"/>
          </a:solidFill>
          <a:ln w="12700">
            <a:solidFill>
              <a:srgbClr val="E84393"/>
            </a:solidFill>
            <a:prstDash val="solid"/>
          </a:ln>
        </p:spPr>
      </p:sp>
      <p:sp>
        <p:nvSpPr>
          <p:cNvPr id="8" name="Text 6"/>
          <p:cNvSpPr/>
          <p:nvPr/>
        </p:nvSpPr>
        <p:spPr>
          <a:xfrm>
            <a:off x="365760" y="1051560"/>
            <a:ext cx="1572768"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Current Ratio</a:t>
            </a:r>
            <a:endParaRPr lang="en-US" sz="950" dirty="0"/>
          </a:p>
        </p:txBody>
      </p:sp>
      <p:sp>
        <p:nvSpPr>
          <p:cNvPr id="9" name="Text 7"/>
          <p:cNvSpPr/>
          <p:nvPr/>
        </p:nvSpPr>
        <p:spPr>
          <a:xfrm>
            <a:off x="365760" y="1280160"/>
            <a:ext cx="1572768"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Current Assets ÷ Current Liabilities</a:t>
            </a:r>
            <a:endParaRPr lang="en-US" sz="680" dirty="0"/>
          </a:p>
        </p:txBody>
      </p:sp>
      <p:sp>
        <p:nvSpPr>
          <p:cNvPr id="10" name="Text 8"/>
          <p:cNvSpPr/>
          <p:nvPr/>
        </p:nvSpPr>
        <p:spPr>
          <a:xfrm>
            <a:off x="365760" y="1426464"/>
            <a:ext cx="1572768"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3.52x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2.62x</a:t>
            </a:r>
            <a:endParaRPr lang="en-US" sz="850" dirty="0"/>
          </a:p>
        </p:txBody>
      </p:sp>
      <p:sp>
        <p:nvSpPr>
          <p:cNvPr id="11" name="Text 9"/>
          <p:cNvSpPr/>
          <p:nvPr/>
        </p:nvSpPr>
        <p:spPr>
          <a:xfrm>
            <a:off x="365760" y="1618488"/>
            <a:ext cx="1572768"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 2.0x</a:t>
            </a:r>
            <a:endParaRPr lang="en-US" sz="680" dirty="0"/>
          </a:p>
        </p:txBody>
      </p:sp>
      <p:sp>
        <p:nvSpPr>
          <p:cNvPr id="12" name="Text 10"/>
          <p:cNvSpPr/>
          <p:nvPr/>
        </p:nvSpPr>
        <p:spPr>
          <a:xfrm>
            <a:off x="365760" y="1755648"/>
            <a:ext cx="1572768" cy="3200400"/>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Think of it like this: for every ₹1 the company owes in the next 12 months, it has ₹3.52 in assets it can quickly use to pay. This jumped because the company raised a lot of cash through a QIP (bulk share sale), growing current assets to ₹11,701 Cr. Very safe — well above the safe zone of 2x.</a:t>
            </a:r>
            <a:endParaRPr lang="en-US" sz="680" dirty="0"/>
          </a:p>
        </p:txBody>
      </p:sp>
      <p:sp>
        <p:nvSpPr>
          <p:cNvPr id="13" name="Shape 11"/>
          <p:cNvSpPr/>
          <p:nvPr/>
        </p:nvSpPr>
        <p:spPr>
          <a:xfrm>
            <a:off x="2075688" y="987552"/>
            <a:ext cx="1709928" cy="4023360"/>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14" name="Shape 12"/>
          <p:cNvSpPr/>
          <p:nvPr/>
        </p:nvSpPr>
        <p:spPr>
          <a:xfrm>
            <a:off x="2075688" y="987552"/>
            <a:ext cx="45720" cy="4023360"/>
          </a:xfrm>
          <a:prstGeom prst="rect">
            <a:avLst/>
          </a:prstGeom>
          <a:solidFill>
            <a:srgbClr val="E84393"/>
          </a:solidFill>
          <a:ln w="12700">
            <a:solidFill>
              <a:srgbClr val="E84393"/>
            </a:solidFill>
            <a:prstDash val="solid"/>
          </a:ln>
        </p:spPr>
      </p:sp>
      <p:sp>
        <p:nvSpPr>
          <p:cNvPr id="15" name="Text 13"/>
          <p:cNvSpPr/>
          <p:nvPr/>
        </p:nvSpPr>
        <p:spPr>
          <a:xfrm>
            <a:off x="2167128" y="1051560"/>
            <a:ext cx="1572768"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Quick Ratio</a:t>
            </a:r>
            <a:endParaRPr lang="en-US" sz="950" dirty="0"/>
          </a:p>
        </p:txBody>
      </p:sp>
      <p:sp>
        <p:nvSpPr>
          <p:cNvPr id="16" name="Text 14"/>
          <p:cNvSpPr/>
          <p:nvPr/>
        </p:nvSpPr>
        <p:spPr>
          <a:xfrm>
            <a:off x="2167128" y="1280160"/>
            <a:ext cx="1572768"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(CA − Inventory) ÷ CL</a:t>
            </a:r>
            <a:endParaRPr lang="en-US" sz="680" dirty="0"/>
          </a:p>
        </p:txBody>
      </p:sp>
      <p:sp>
        <p:nvSpPr>
          <p:cNvPr id="17" name="Text 15"/>
          <p:cNvSpPr/>
          <p:nvPr/>
        </p:nvSpPr>
        <p:spPr>
          <a:xfrm>
            <a:off x="2167128" y="1426464"/>
            <a:ext cx="1572768"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3.47x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2.58x</a:t>
            </a:r>
            <a:endParaRPr lang="en-US" sz="850" dirty="0"/>
          </a:p>
        </p:txBody>
      </p:sp>
      <p:sp>
        <p:nvSpPr>
          <p:cNvPr id="18" name="Text 16"/>
          <p:cNvSpPr/>
          <p:nvPr/>
        </p:nvSpPr>
        <p:spPr>
          <a:xfrm>
            <a:off x="2167128" y="1618488"/>
            <a:ext cx="1572768"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 1.0x</a:t>
            </a:r>
            <a:endParaRPr lang="en-US" sz="680" dirty="0"/>
          </a:p>
        </p:txBody>
      </p:sp>
      <p:sp>
        <p:nvSpPr>
          <p:cNvPr id="19" name="Text 17"/>
          <p:cNvSpPr/>
          <p:nvPr/>
        </p:nvSpPr>
        <p:spPr>
          <a:xfrm>
            <a:off x="2167128" y="1755648"/>
            <a:ext cx="1572768" cy="3200400"/>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Same as Current Ratio but stricter — it removes inventory (goods not yet sold). Since Eternal's inventory (₹176 Cr) is very small vs. its total assets, the Quick Ratio is nearly equal to the Current Ratio. This tells us the company doesn't need to sell a single product to cover all its dues — cash alone handles it.</a:t>
            </a:r>
            <a:endParaRPr lang="en-US" sz="680" dirty="0"/>
          </a:p>
        </p:txBody>
      </p:sp>
      <p:sp>
        <p:nvSpPr>
          <p:cNvPr id="20" name="Shape 18"/>
          <p:cNvSpPr/>
          <p:nvPr/>
        </p:nvSpPr>
        <p:spPr>
          <a:xfrm>
            <a:off x="3877056" y="987552"/>
            <a:ext cx="1709928" cy="4023360"/>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21" name="Shape 19"/>
          <p:cNvSpPr/>
          <p:nvPr/>
        </p:nvSpPr>
        <p:spPr>
          <a:xfrm>
            <a:off x="3877056" y="987552"/>
            <a:ext cx="45720" cy="4023360"/>
          </a:xfrm>
          <a:prstGeom prst="rect">
            <a:avLst/>
          </a:prstGeom>
          <a:solidFill>
            <a:srgbClr val="E84393"/>
          </a:solidFill>
          <a:ln w="12700">
            <a:solidFill>
              <a:srgbClr val="E84393"/>
            </a:solidFill>
            <a:prstDash val="solid"/>
          </a:ln>
        </p:spPr>
      </p:sp>
      <p:sp>
        <p:nvSpPr>
          <p:cNvPr id="22" name="Text 20"/>
          <p:cNvSpPr/>
          <p:nvPr/>
        </p:nvSpPr>
        <p:spPr>
          <a:xfrm>
            <a:off x="3968496" y="1051560"/>
            <a:ext cx="1572768"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Cash Ratio</a:t>
            </a:r>
            <a:endParaRPr lang="en-US" sz="950" dirty="0"/>
          </a:p>
        </p:txBody>
      </p:sp>
      <p:sp>
        <p:nvSpPr>
          <p:cNvPr id="23" name="Text 21"/>
          <p:cNvSpPr/>
          <p:nvPr/>
        </p:nvSpPr>
        <p:spPr>
          <a:xfrm>
            <a:off x="3968496" y="1280160"/>
            <a:ext cx="1572768"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(Cash + Investments) ÷ CL</a:t>
            </a:r>
            <a:endParaRPr lang="en-US" sz="680" dirty="0"/>
          </a:p>
        </p:txBody>
      </p:sp>
      <p:sp>
        <p:nvSpPr>
          <p:cNvPr id="24" name="Text 22"/>
          <p:cNvSpPr/>
          <p:nvPr/>
        </p:nvSpPr>
        <p:spPr>
          <a:xfrm>
            <a:off x="3968496" y="1426464"/>
            <a:ext cx="1572768"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0.88x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0.76x</a:t>
            </a:r>
            <a:endParaRPr lang="en-US" sz="850" dirty="0"/>
          </a:p>
        </p:txBody>
      </p:sp>
      <p:sp>
        <p:nvSpPr>
          <p:cNvPr id="25" name="Text 23"/>
          <p:cNvSpPr/>
          <p:nvPr/>
        </p:nvSpPr>
        <p:spPr>
          <a:xfrm>
            <a:off x="3968496" y="1618488"/>
            <a:ext cx="1572768"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0.5x – 1.0x</a:t>
            </a:r>
            <a:endParaRPr lang="en-US" sz="680" dirty="0"/>
          </a:p>
        </p:txBody>
      </p:sp>
      <p:sp>
        <p:nvSpPr>
          <p:cNvPr id="26" name="Text 24"/>
          <p:cNvSpPr/>
          <p:nvPr/>
        </p:nvSpPr>
        <p:spPr>
          <a:xfrm>
            <a:off x="3968496" y="1755648"/>
            <a:ext cx="1572768" cy="3200400"/>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The strictest liquidity test — can the company pay every short-term bill using only cash and near-cash investments right now? At 0.88x, Eternal can cover 88% of its current liabilities instantly. The improvement is driven by growing cash (₹666 Cr) and mutual fund investments (₹2,272 Cr). Right in the ideal range.</a:t>
            </a:r>
            <a:endParaRPr lang="en-US" sz="680" dirty="0"/>
          </a:p>
        </p:txBody>
      </p:sp>
      <p:sp>
        <p:nvSpPr>
          <p:cNvPr id="27" name="Shape 25"/>
          <p:cNvSpPr/>
          <p:nvPr/>
        </p:nvSpPr>
        <p:spPr>
          <a:xfrm>
            <a:off x="5678424" y="987552"/>
            <a:ext cx="1709928" cy="4023360"/>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28" name="Shape 26"/>
          <p:cNvSpPr/>
          <p:nvPr/>
        </p:nvSpPr>
        <p:spPr>
          <a:xfrm>
            <a:off x="5678424" y="987552"/>
            <a:ext cx="45720" cy="4023360"/>
          </a:xfrm>
          <a:prstGeom prst="rect">
            <a:avLst/>
          </a:prstGeom>
          <a:solidFill>
            <a:srgbClr val="E84393"/>
          </a:solidFill>
          <a:ln w="12700">
            <a:solidFill>
              <a:srgbClr val="E84393"/>
            </a:solidFill>
            <a:prstDash val="solid"/>
          </a:ln>
        </p:spPr>
      </p:sp>
      <p:sp>
        <p:nvSpPr>
          <p:cNvPr id="29" name="Text 27"/>
          <p:cNvSpPr/>
          <p:nvPr/>
        </p:nvSpPr>
        <p:spPr>
          <a:xfrm>
            <a:off x="5769864" y="1051560"/>
            <a:ext cx="1572768"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Net Working Capital</a:t>
            </a:r>
            <a:endParaRPr lang="en-US" sz="950" dirty="0"/>
          </a:p>
        </p:txBody>
      </p:sp>
      <p:sp>
        <p:nvSpPr>
          <p:cNvPr id="30" name="Text 28"/>
          <p:cNvSpPr/>
          <p:nvPr/>
        </p:nvSpPr>
        <p:spPr>
          <a:xfrm>
            <a:off x="5769864" y="1280160"/>
            <a:ext cx="1572768"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Current Assets − Current Liabilities</a:t>
            </a:r>
            <a:endParaRPr lang="en-US" sz="680" dirty="0"/>
          </a:p>
        </p:txBody>
      </p:sp>
      <p:sp>
        <p:nvSpPr>
          <p:cNvPr id="31" name="Text 29"/>
          <p:cNvSpPr/>
          <p:nvPr/>
        </p:nvSpPr>
        <p:spPr>
          <a:xfrm>
            <a:off x="5769864" y="1426464"/>
            <a:ext cx="1572768"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₹8,375 Cr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₹3,375 Cr</a:t>
            </a:r>
            <a:endParaRPr lang="en-US" sz="850" dirty="0"/>
          </a:p>
        </p:txBody>
      </p:sp>
      <p:sp>
        <p:nvSpPr>
          <p:cNvPr id="32" name="Text 30"/>
          <p:cNvSpPr/>
          <p:nvPr/>
        </p:nvSpPr>
        <p:spPr>
          <a:xfrm>
            <a:off x="5769864" y="1618488"/>
            <a:ext cx="1572768"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Positive &amp; large</a:t>
            </a:r>
            <a:endParaRPr lang="en-US" sz="680" dirty="0"/>
          </a:p>
        </p:txBody>
      </p:sp>
      <p:sp>
        <p:nvSpPr>
          <p:cNvPr id="33" name="Text 31"/>
          <p:cNvSpPr/>
          <p:nvPr/>
        </p:nvSpPr>
        <p:spPr>
          <a:xfrm>
            <a:off x="5769864" y="1755648"/>
            <a:ext cx="1572768" cy="3200400"/>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Working capital is the company's "financial cushion" for daily operations. At ₹8,375 Cr, this cushion more than doubled in one year — meaning the business has enormous capacity to handle sudden expenses, pay vendors, or invest quickly. A ₹5,000 Cr jump shows very strong financial health.</a:t>
            </a:r>
            <a:endParaRPr lang="en-US" sz="680" dirty="0"/>
          </a:p>
        </p:txBody>
      </p:sp>
      <p:sp>
        <p:nvSpPr>
          <p:cNvPr id="34" name="Shape 32"/>
          <p:cNvSpPr/>
          <p:nvPr/>
        </p:nvSpPr>
        <p:spPr>
          <a:xfrm>
            <a:off x="7479792" y="987552"/>
            <a:ext cx="1709928" cy="4023360"/>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35" name="Shape 33"/>
          <p:cNvSpPr/>
          <p:nvPr/>
        </p:nvSpPr>
        <p:spPr>
          <a:xfrm>
            <a:off x="7479792" y="987552"/>
            <a:ext cx="45720" cy="4023360"/>
          </a:xfrm>
          <a:prstGeom prst="rect">
            <a:avLst/>
          </a:prstGeom>
          <a:solidFill>
            <a:srgbClr val="E84393"/>
          </a:solidFill>
          <a:ln w="12700">
            <a:solidFill>
              <a:srgbClr val="E84393"/>
            </a:solidFill>
            <a:prstDash val="solid"/>
          </a:ln>
        </p:spPr>
      </p:sp>
      <p:sp>
        <p:nvSpPr>
          <p:cNvPr id="36" name="Text 34"/>
          <p:cNvSpPr/>
          <p:nvPr/>
        </p:nvSpPr>
        <p:spPr>
          <a:xfrm>
            <a:off x="7571232" y="1051560"/>
            <a:ext cx="1572768"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Basic Defence Ratio</a:t>
            </a:r>
            <a:endParaRPr lang="en-US" sz="950" dirty="0"/>
          </a:p>
        </p:txBody>
      </p:sp>
      <p:sp>
        <p:nvSpPr>
          <p:cNvPr id="37" name="Text 35"/>
          <p:cNvSpPr/>
          <p:nvPr/>
        </p:nvSpPr>
        <p:spPr>
          <a:xfrm>
            <a:off x="7571232" y="1280160"/>
            <a:ext cx="1572768"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(CA − Inventory − Prepaid) ÷ Daily Op. Exp.</a:t>
            </a:r>
            <a:endParaRPr lang="en-US" sz="680" dirty="0"/>
          </a:p>
        </p:txBody>
      </p:sp>
      <p:sp>
        <p:nvSpPr>
          <p:cNvPr id="38" name="Text 36"/>
          <p:cNvSpPr/>
          <p:nvPr/>
        </p:nvSpPr>
        <p:spPr>
          <a:xfrm>
            <a:off x="7571232" y="1426464"/>
            <a:ext cx="1572768"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258 days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195 days</a:t>
            </a:r>
            <a:endParaRPr lang="en-US" sz="850" dirty="0"/>
          </a:p>
        </p:txBody>
      </p:sp>
      <p:sp>
        <p:nvSpPr>
          <p:cNvPr id="39" name="Text 37"/>
          <p:cNvSpPr/>
          <p:nvPr/>
        </p:nvSpPr>
        <p:spPr>
          <a:xfrm>
            <a:off x="7571232" y="1618488"/>
            <a:ext cx="1572768"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 90 days</a:t>
            </a:r>
            <a:endParaRPr lang="en-US" sz="680" dirty="0"/>
          </a:p>
        </p:txBody>
      </p:sp>
      <p:sp>
        <p:nvSpPr>
          <p:cNvPr id="40" name="Text 38"/>
          <p:cNvSpPr/>
          <p:nvPr/>
        </p:nvSpPr>
        <p:spPr>
          <a:xfrm>
            <a:off x="7571232" y="1755648"/>
            <a:ext cx="1572768" cy="3200400"/>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How many days can the company keep running if all revenue suddenly stopped? Answer: 258 days — nearly 8.5 months — without earning a single rupee. That's a massive safety net. This improved because cash-like assets grew much faster than daily costs (₹44.34 Cr/day). An exceptional score — most companies target just 90 days.</a:t>
            </a:r>
            <a:endParaRPr lang="en-US" sz="6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F36"/>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84393"/>
          </a:solidFill>
          <a:ln w="12700">
            <a:solidFill>
              <a:srgbClr val="E84393"/>
            </a:solidFill>
            <a:prstDash val="solid"/>
          </a:ln>
        </p:spPr>
      </p:sp>
      <p:sp>
        <p:nvSpPr>
          <p:cNvPr id="3" name="Text 1"/>
          <p:cNvSpPr/>
          <p:nvPr/>
        </p:nvSpPr>
        <p:spPr>
          <a:xfrm>
            <a:off x="411480" y="109728"/>
            <a:ext cx="8321040" cy="47548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Solvency &amp; Coverage Ratios</a:t>
            </a:r>
            <a:endParaRPr lang="en-US" sz="2000" dirty="0"/>
          </a:p>
        </p:txBody>
      </p:sp>
      <p:sp>
        <p:nvSpPr>
          <p:cNvPr id="4" name="Text 2"/>
          <p:cNvSpPr/>
          <p:nvPr/>
        </p:nvSpPr>
        <p:spPr>
          <a:xfrm>
            <a:off x="411480" y="566928"/>
            <a:ext cx="8321040" cy="256032"/>
          </a:xfrm>
          <a:prstGeom prst="rect">
            <a:avLst/>
          </a:prstGeom>
          <a:noFill/>
          <a:ln/>
        </p:spPr>
        <p:txBody>
          <a:bodyPr wrap="square" rtlCol="0" anchor="ctr"/>
          <a:lstStyle/>
          <a:p>
            <a:pPr marL="0" indent="0">
              <a:buNone/>
            </a:pPr>
            <a:r>
              <a:rPr lang="en-US" sz="1050" dirty="0">
                <a:solidFill>
                  <a:srgbClr val="A0AEC0"/>
                </a:solidFill>
                <a:latin typeface="Calibri" pitchFamily="34" charset="0"/>
                <a:ea typeface="Calibri" pitchFamily="34" charset="-122"/>
                <a:cs typeface="Calibri" pitchFamily="34" charset="-120"/>
              </a:rPr>
              <a:t>Is the company safe from debt risk? → These ratios measure long-term financial stability</a:t>
            </a:r>
            <a:endParaRPr lang="en-US" sz="1050" dirty="0"/>
          </a:p>
        </p:txBody>
      </p:sp>
      <p:sp>
        <p:nvSpPr>
          <p:cNvPr id="5" name="Shape 3"/>
          <p:cNvSpPr/>
          <p:nvPr/>
        </p:nvSpPr>
        <p:spPr>
          <a:xfrm>
            <a:off x="411480" y="868680"/>
            <a:ext cx="8321040" cy="22860"/>
          </a:xfrm>
          <a:prstGeom prst="rect">
            <a:avLst/>
          </a:prstGeom>
          <a:solidFill>
            <a:srgbClr val="2D3561"/>
          </a:solidFill>
          <a:ln w="12700">
            <a:solidFill>
              <a:srgbClr val="2D3561"/>
            </a:solidFill>
            <a:prstDash val="solid"/>
          </a:ln>
        </p:spPr>
      </p:sp>
      <p:sp>
        <p:nvSpPr>
          <p:cNvPr id="6" name="Shape 4"/>
          <p:cNvSpPr/>
          <p:nvPr/>
        </p:nvSpPr>
        <p:spPr>
          <a:xfrm>
            <a:off x="274320" y="987552"/>
            <a:ext cx="2724912" cy="1664208"/>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7" name="Shape 5"/>
          <p:cNvSpPr/>
          <p:nvPr/>
        </p:nvSpPr>
        <p:spPr>
          <a:xfrm>
            <a:off x="274320" y="987552"/>
            <a:ext cx="45720" cy="1664208"/>
          </a:xfrm>
          <a:prstGeom prst="rect">
            <a:avLst/>
          </a:prstGeom>
          <a:solidFill>
            <a:srgbClr val="E84393"/>
          </a:solidFill>
          <a:ln w="12700">
            <a:solidFill>
              <a:srgbClr val="E84393"/>
            </a:solidFill>
            <a:prstDash val="solid"/>
          </a:ln>
        </p:spPr>
      </p:sp>
      <p:sp>
        <p:nvSpPr>
          <p:cNvPr id="8" name="Text 6"/>
          <p:cNvSpPr/>
          <p:nvPr/>
        </p:nvSpPr>
        <p:spPr>
          <a:xfrm>
            <a:off x="365760" y="1051560"/>
            <a:ext cx="2587752"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Debt-to-Equity</a:t>
            </a:r>
            <a:endParaRPr lang="en-US" sz="950" dirty="0"/>
          </a:p>
        </p:txBody>
      </p:sp>
      <p:sp>
        <p:nvSpPr>
          <p:cNvPr id="9" name="Text 7"/>
          <p:cNvSpPr/>
          <p:nvPr/>
        </p:nvSpPr>
        <p:spPr>
          <a:xfrm>
            <a:off x="365760" y="1280160"/>
            <a:ext cx="2587752"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Total Liabilities ÷ Total Equity</a:t>
            </a:r>
            <a:endParaRPr lang="en-US" sz="680" dirty="0"/>
          </a:p>
        </p:txBody>
      </p:sp>
      <p:sp>
        <p:nvSpPr>
          <p:cNvPr id="10" name="Text 8"/>
          <p:cNvSpPr/>
          <p:nvPr/>
        </p:nvSpPr>
        <p:spPr>
          <a:xfrm>
            <a:off x="365760" y="1426464"/>
            <a:ext cx="2587752"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0.18x  </a:t>
            </a:r>
            <a:r>
              <a:rPr lang="en-US" sz="900" dirty="0">
                <a:solidFill>
                  <a:srgbClr val="F87171"/>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0.14x</a:t>
            </a:r>
            <a:endParaRPr lang="en-US" sz="850" dirty="0"/>
          </a:p>
        </p:txBody>
      </p:sp>
      <p:sp>
        <p:nvSpPr>
          <p:cNvPr id="11" name="Text 9"/>
          <p:cNvSpPr/>
          <p:nvPr/>
        </p:nvSpPr>
        <p:spPr>
          <a:xfrm>
            <a:off x="365760" y="1618488"/>
            <a:ext cx="2587752"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&lt; 1.0x</a:t>
            </a:r>
            <a:endParaRPr lang="en-US" sz="680" dirty="0"/>
          </a:p>
        </p:txBody>
      </p:sp>
      <p:sp>
        <p:nvSpPr>
          <p:cNvPr id="12" name="Text 10"/>
          <p:cNvSpPr/>
          <p:nvPr/>
        </p:nvSpPr>
        <p:spPr>
          <a:xfrm>
            <a:off x="365760" y="1755648"/>
            <a:ext cx="2587752" cy="841248"/>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For every ₹1 of shareholder money, the company borrows only ₹0.18. Think of it like a home with 85% down payment — almost no mortgage. The slight rise is because Blinkit's dark store expansion required more lease commitments, not because of dangerous borrowing. Still extremely safe.</a:t>
            </a:r>
            <a:endParaRPr lang="en-US" sz="680" dirty="0"/>
          </a:p>
        </p:txBody>
      </p:sp>
      <p:sp>
        <p:nvSpPr>
          <p:cNvPr id="13" name="Shape 11"/>
          <p:cNvSpPr/>
          <p:nvPr/>
        </p:nvSpPr>
        <p:spPr>
          <a:xfrm>
            <a:off x="3172968" y="987552"/>
            <a:ext cx="2724912" cy="1664208"/>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14" name="Shape 12"/>
          <p:cNvSpPr/>
          <p:nvPr/>
        </p:nvSpPr>
        <p:spPr>
          <a:xfrm>
            <a:off x="3172968" y="987552"/>
            <a:ext cx="45720" cy="1664208"/>
          </a:xfrm>
          <a:prstGeom prst="rect">
            <a:avLst/>
          </a:prstGeom>
          <a:solidFill>
            <a:srgbClr val="E84393"/>
          </a:solidFill>
          <a:ln w="12700">
            <a:solidFill>
              <a:srgbClr val="E84393"/>
            </a:solidFill>
            <a:prstDash val="solid"/>
          </a:ln>
        </p:spPr>
      </p:sp>
      <p:sp>
        <p:nvSpPr>
          <p:cNvPr id="15" name="Text 13"/>
          <p:cNvSpPr/>
          <p:nvPr/>
        </p:nvSpPr>
        <p:spPr>
          <a:xfrm>
            <a:off x="3264408" y="1051560"/>
            <a:ext cx="2587752"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Debt-to-Asset</a:t>
            </a:r>
            <a:endParaRPr lang="en-US" sz="950" dirty="0"/>
          </a:p>
        </p:txBody>
      </p:sp>
      <p:sp>
        <p:nvSpPr>
          <p:cNvPr id="16" name="Text 14"/>
          <p:cNvSpPr/>
          <p:nvPr/>
        </p:nvSpPr>
        <p:spPr>
          <a:xfrm>
            <a:off x="3264408" y="1280160"/>
            <a:ext cx="2587752"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Total Liabilities ÷ Total Assets</a:t>
            </a:r>
            <a:endParaRPr lang="en-US" sz="680" dirty="0"/>
          </a:p>
        </p:txBody>
      </p:sp>
      <p:sp>
        <p:nvSpPr>
          <p:cNvPr id="17" name="Text 15"/>
          <p:cNvSpPr/>
          <p:nvPr/>
        </p:nvSpPr>
        <p:spPr>
          <a:xfrm>
            <a:off x="3264408" y="1426464"/>
            <a:ext cx="2587752"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0.15x  </a:t>
            </a:r>
            <a:r>
              <a:rPr lang="en-US" sz="900" dirty="0">
                <a:solidFill>
                  <a:srgbClr val="F87171"/>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0.13x</a:t>
            </a:r>
            <a:endParaRPr lang="en-US" sz="850" dirty="0"/>
          </a:p>
        </p:txBody>
      </p:sp>
      <p:sp>
        <p:nvSpPr>
          <p:cNvPr id="18" name="Text 16"/>
          <p:cNvSpPr/>
          <p:nvPr/>
        </p:nvSpPr>
        <p:spPr>
          <a:xfrm>
            <a:off x="3264408" y="1618488"/>
            <a:ext cx="2587752"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&lt; 0.5x</a:t>
            </a:r>
            <a:endParaRPr lang="en-US" sz="680" dirty="0"/>
          </a:p>
        </p:txBody>
      </p:sp>
      <p:sp>
        <p:nvSpPr>
          <p:cNvPr id="19" name="Text 17"/>
          <p:cNvSpPr/>
          <p:nvPr/>
        </p:nvSpPr>
        <p:spPr>
          <a:xfrm>
            <a:off x="3264408" y="1755648"/>
            <a:ext cx="2587752" cy="841248"/>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Only 15% of the company's total assets are funded by debt — the remaining 85% belong to shareholders. This is like owning a property worth ₹100 where you only owe ₹15 to the bank. Very low risk. The tiny rise reflects expansion-related leases, not risky borrowing.</a:t>
            </a:r>
            <a:endParaRPr lang="en-US" sz="680" dirty="0"/>
          </a:p>
        </p:txBody>
      </p:sp>
      <p:sp>
        <p:nvSpPr>
          <p:cNvPr id="20" name="Shape 18"/>
          <p:cNvSpPr/>
          <p:nvPr/>
        </p:nvSpPr>
        <p:spPr>
          <a:xfrm>
            <a:off x="6062472" y="987552"/>
            <a:ext cx="2724912" cy="1664208"/>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21" name="Shape 19"/>
          <p:cNvSpPr/>
          <p:nvPr/>
        </p:nvSpPr>
        <p:spPr>
          <a:xfrm>
            <a:off x="6062472" y="987552"/>
            <a:ext cx="45720" cy="1664208"/>
          </a:xfrm>
          <a:prstGeom prst="rect">
            <a:avLst/>
          </a:prstGeom>
          <a:solidFill>
            <a:srgbClr val="E84393"/>
          </a:solidFill>
          <a:ln w="12700">
            <a:solidFill>
              <a:srgbClr val="E84393"/>
            </a:solidFill>
            <a:prstDash val="solid"/>
          </a:ln>
        </p:spPr>
      </p:sp>
      <p:sp>
        <p:nvSpPr>
          <p:cNvPr id="22" name="Text 20"/>
          <p:cNvSpPr/>
          <p:nvPr/>
        </p:nvSpPr>
        <p:spPr>
          <a:xfrm>
            <a:off x="6153912" y="1051560"/>
            <a:ext cx="2587752"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Proprietary Ratio</a:t>
            </a:r>
            <a:endParaRPr lang="en-US" sz="950" dirty="0"/>
          </a:p>
        </p:txBody>
      </p:sp>
      <p:sp>
        <p:nvSpPr>
          <p:cNvPr id="23" name="Text 21"/>
          <p:cNvSpPr/>
          <p:nvPr/>
        </p:nvSpPr>
        <p:spPr>
          <a:xfrm>
            <a:off x="6153912" y="1280160"/>
            <a:ext cx="2587752"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Total Equity ÷ Total Assets</a:t>
            </a:r>
            <a:endParaRPr lang="en-US" sz="680" dirty="0"/>
          </a:p>
        </p:txBody>
      </p:sp>
      <p:sp>
        <p:nvSpPr>
          <p:cNvPr id="24" name="Text 22"/>
          <p:cNvSpPr/>
          <p:nvPr/>
        </p:nvSpPr>
        <p:spPr>
          <a:xfrm>
            <a:off x="6153912" y="1426464"/>
            <a:ext cx="2587752"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0.85x  </a:t>
            </a:r>
            <a:r>
              <a:rPr lang="en-US" sz="900" dirty="0">
                <a:solidFill>
                  <a:srgbClr val="F87171"/>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0.87x</a:t>
            </a:r>
            <a:endParaRPr lang="en-US" sz="850" dirty="0"/>
          </a:p>
        </p:txBody>
      </p:sp>
      <p:sp>
        <p:nvSpPr>
          <p:cNvPr id="25" name="Text 23"/>
          <p:cNvSpPr/>
          <p:nvPr/>
        </p:nvSpPr>
        <p:spPr>
          <a:xfrm>
            <a:off x="6153912" y="1618488"/>
            <a:ext cx="2587752"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&gt; 0.5x</a:t>
            </a:r>
            <a:endParaRPr lang="en-US" sz="680" dirty="0"/>
          </a:p>
        </p:txBody>
      </p:sp>
      <p:sp>
        <p:nvSpPr>
          <p:cNvPr id="26" name="Text 24"/>
          <p:cNvSpPr/>
          <p:nvPr/>
        </p:nvSpPr>
        <p:spPr>
          <a:xfrm>
            <a:off x="6153912" y="1755648"/>
            <a:ext cx="2587752" cy="841248"/>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85 paise of every rupee of company assets belongs to its shareholders — creditors own only 15 paise. A slight dip (from 0.87x) happened because liabilities grew faster as the company expanded Blinkit. Still excellent — the company is largely self-financed.</a:t>
            </a:r>
            <a:endParaRPr lang="en-US" sz="680" dirty="0"/>
          </a:p>
        </p:txBody>
      </p:sp>
      <p:sp>
        <p:nvSpPr>
          <p:cNvPr id="27" name="Shape 25"/>
          <p:cNvSpPr/>
          <p:nvPr/>
        </p:nvSpPr>
        <p:spPr>
          <a:xfrm>
            <a:off x="274320" y="2816352"/>
            <a:ext cx="2724912" cy="1664208"/>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28" name="Shape 26"/>
          <p:cNvSpPr/>
          <p:nvPr/>
        </p:nvSpPr>
        <p:spPr>
          <a:xfrm>
            <a:off x="274320" y="2816352"/>
            <a:ext cx="45720" cy="1664208"/>
          </a:xfrm>
          <a:prstGeom prst="rect">
            <a:avLst/>
          </a:prstGeom>
          <a:solidFill>
            <a:srgbClr val="E84393"/>
          </a:solidFill>
          <a:ln w="12700">
            <a:solidFill>
              <a:srgbClr val="E84393"/>
            </a:solidFill>
            <a:prstDash val="solid"/>
          </a:ln>
        </p:spPr>
      </p:sp>
      <p:sp>
        <p:nvSpPr>
          <p:cNvPr id="29" name="Text 27"/>
          <p:cNvSpPr/>
          <p:nvPr/>
        </p:nvSpPr>
        <p:spPr>
          <a:xfrm>
            <a:off x="365760" y="2880360"/>
            <a:ext cx="2587752"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Interest Coverage (ICR)</a:t>
            </a:r>
            <a:endParaRPr lang="en-US" sz="950" dirty="0"/>
          </a:p>
        </p:txBody>
      </p:sp>
      <p:sp>
        <p:nvSpPr>
          <p:cNvPr id="30" name="Text 28"/>
          <p:cNvSpPr/>
          <p:nvPr/>
        </p:nvSpPr>
        <p:spPr>
          <a:xfrm>
            <a:off x="365760" y="3108960"/>
            <a:ext cx="2587752"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EBIT ÷ Interest on LT Debt</a:t>
            </a:r>
            <a:endParaRPr lang="en-US" sz="680" dirty="0"/>
          </a:p>
        </p:txBody>
      </p:sp>
      <p:sp>
        <p:nvSpPr>
          <p:cNvPr id="31" name="Text 29"/>
          <p:cNvSpPr/>
          <p:nvPr/>
        </p:nvSpPr>
        <p:spPr>
          <a:xfrm>
            <a:off x="365760" y="3255264"/>
            <a:ext cx="2587752"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5.53x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5.04x</a:t>
            </a:r>
            <a:endParaRPr lang="en-US" sz="850" dirty="0"/>
          </a:p>
        </p:txBody>
      </p:sp>
      <p:sp>
        <p:nvSpPr>
          <p:cNvPr id="32" name="Text 30"/>
          <p:cNvSpPr/>
          <p:nvPr/>
        </p:nvSpPr>
        <p:spPr>
          <a:xfrm>
            <a:off x="365760" y="3447288"/>
            <a:ext cx="2587752"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 3.0x</a:t>
            </a:r>
            <a:endParaRPr lang="en-US" sz="680" dirty="0"/>
          </a:p>
        </p:txBody>
      </p:sp>
      <p:sp>
        <p:nvSpPr>
          <p:cNvPr id="33" name="Text 31"/>
          <p:cNvSpPr/>
          <p:nvPr/>
        </p:nvSpPr>
        <p:spPr>
          <a:xfrm>
            <a:off x="365760" y="3584448"/>
            <a:ext cx="2587752" cy="841248"/>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Can the company afford its interest payments? Yes — 5.5 times over! Operating profit (EBIT) grew from ₹363 Cr to ₹851 Cr (+134%) while interest cost only rose to ₹154 Cr. Lenders have nothing to worry about. The improvement shows the company's core business is becoming more profitable.</a:t>
            </a:r>
            <a:endParaRPr lang="en-US" sz="680" dirty="0"/>
          </a:p>
        </p:txBody>
      </p:sp>
      <p:sp>
        <p:nvSpPr>
          <p:cNvPr id="34" name="Shape 32"/>
          <p:cNvSpPr/>
          <p:nvPr/>
        </p:nvSpPr>
        <p:spPr>
          <a:xfrm>
            <a:off x="3172968" y="2816352"/>
            <a:ext cx="2724912" cy="1664208"/>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35" name="Shape 33"/>
          <p:cNvSpPr/>
          <p:nvPr/>
        </p:nvSpPr>
        <p:spPr>
          <a:xfrm>
            <a:off x="3172968" y="2816352"/>
            <a:ext cx="45720" cy="1664208"/>
          </a:xfrm>
          <a:prstGeom prst="rect">
            <a:avLst/>
          </a:prstGeom>
          <a:solidFill>
            <a:srgbClr val="E84393"/>
          </a:solidFill>
          <a:ln w="12700">
            <a:solidFill>
              <a:srgbClr val="E84393"/>
            </a:solidFill>
            <a:prstDash val="solid"/>
          </a:ln>
        </p:spPr>
      </p:sp>
      <p:sp>
        <p:nvSpPr>
          <p:cNvPr id="36" name="Text 34"/>
          <p:cNvSpPr/>
          <p:nvPr/>
        </p:nvSpPr>
        <p:spPr>
          <a:xfrm>
            <a:off x="3264408" y="2880360"/>
            <a:ext cx="2587752"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DSCR</a:t>
            </a:r>
            <a:endParaRPr lang="en-US" sz="950" dirty="0"/>
          </a:p>
        </p:txBody>
      </p:sp>
      <p:sp>
        <p:nvSpPr>
          <p:cNvPr id="37" name="Text 35"/>
          <p:cNvSpPr/>
          <p:nvPr/>
        </p:nvSpPr>
        <p:spPr>
          <a:xfrm>
            <a:off x="3264408" y="3108960"/>
            <a:ext cx="2587752"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(PAT+Dep+Int+SBP) ÷ Debt Service</a:t>
            </a:r>
            <a:endParaRPr lang="en-US" sz="680" dirty="0"/>
          </a:p>
        </p:txBody>
      </p:sp>
      <p:sp>
        <p:nvSpPr>
          <p:cNvPr id="38" name="Text 36"/>
          <p:cNvSpPr/>
          <p:nvPr/>
        </p:nvSpPr>
        <p:spPr>
          <a:xfrm>
            <a:off x="3264408" y="3255264"/>
            <a:ext cx="2587752"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5.78x  </a:t>
            </a:r>
            <a:r>
              <a:rPr lang="en-US" sz="900" dirty="0">
                <a:solidFill>
                  <a:srgbClr val="F87171"/>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7.47x</a:t>
            </a:r>
            <a:endParaRPr lang="en-US" sz="850" dirty="0"/>
          </a:p>
        </p:txBody>
      </p:sp>
      <p:sp>
        <p:nvSpPr>
          <p:cNvPr id="39" name="Text 37"/>
          <p:cNvSpPr/>
          <p:nvPr/>
        </p:nvSpPr>
        <p:spPr>
          <a:xfrm>
            <a:off x="3264408" y="3447288"/>
            <a:ext cx="2587752"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 1.5x</a:t>
            </a:r>
            <a:endParaRPr lang="en-US" sz="680" dirty="0"/>
          </a:p>
        </p:txBody>
      </p:sp>
      <p:sp>
        <p:nvSpPr>
          <p:cNvPr id="40" name="Text 38"/>
          <p:cNvSpPr/>
          <p:nvPr/>
        </p:nvSpPr>
        <p:spPr>
          <a:xfrm>
            <a:off x="3264408" y="3584448"/>
            <a:ext cx="2587752" cy="841248"/>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This checks if cash flows can cover both interest AND loan repayments. The slight drop from 7.47x to 5.78x happened because debt repayment obligations doubled (₹196 Cr → ₹405 Cr) as the company repaid more loans. But 5.78x is still very healthy — well above the danger zone of 1.5x.</a:t>
            </a:r>
            <a:endParaRPr lang="en-US" sz="680" dirty="0"/>
          </a:p>
        </p:txBody>
      </p:sp>
      <p:sp>
        <p:nvSpPr>
          <p:cNvPr id="41" name="Shape 39"/>
          <p:cNvSpPr/>
          <p:nvPr/>
        </p:nvSpPr>
        <p:spPr>
          <a:xfrm>
            <a:off x="6062472" y="2816352"/>
            <a:ext cx="2724912" cy="1664208"/>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42" name="Shape 40"/>
          <p:cNvSpPr/>
          <p:nvPr/>
        </p:nvSpPr>
        <p:spPr>
          <a:xfrm>
            <a:off x="6062472" y="2816352"/>
            <a:ext cx="45720" cy="1664208"/>
          </a:xfrm>
          <a:prstGeom prst="rect">
            <a:avLst/>
          </a:prstGeom>
          <a:solidFill>
            <a:srgbClr val="E84393"/>
          </a:solidFill>
          <a:ln w="12700">
            <a:solidFill>
              <a:srgbClr val="E84393"/>
            </a:solidFill>
            <a:prstDash val="solid"/>
          </a:ln>
        </p:spPr>
      </p:sp>
      <p:sp>
        <p:nvSpPr>
          <p:cNvPr id="43" name="Text 41"/>
          <p:cNvSpPr/>
          <p:nvPr/>
        </p:nvSpPr>
        <p:spPr>
          <a:xfrm>
            <a:off x="6153912" y="2880360"/>
            <a:ext cx="2587752"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FCCR</a:t>
            </a:r>
            <a:endParaRPr lang="en-US" sz="950" dirty="0"/>
          </a:p>
        </p:txBody>
      </p:sp>
      <p:sp>
        <p:nvSpPr>
          <p:cNvPr id="44" name="Text 42"/>
          <p:cNvSpPr/>
          <p:nvPr/>
        </p:nvSpPr>
        <p:spPr>
          <a:xfrm>
            <a:off x="6153912" y="3108960"/>
            <a:ext cx="2587752"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(EBIT+Dep) ÷ (Interest + Loan Repayment)</a:t>
            </a:r>
            <a:endParaRPr lang="en-US" sz="680" dirty="0"/>
          </a:p>
        </p:txBody>
      </p:sp>
      <p:sp>
        <p:nvSpPr>
          <p:cNvPr id="45" name="Text 43"/>
          <p:cNvSpPr/>
          <p:nvPr/>
        </p:nvSpPr>
        <p:spPr>
          <a:xfrm>
            <a:off x="6153912" y="3255264"/>
            <a:ext cx="2587752"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4.23x  </a:t>
            </a:r>
            <a:r>
              <a:rPr lang="en-US" sz="900" dirty="0">
                <a:solidFill>
                  <a:srgbClr val="F87171"/>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4.53x</a:t>
            </a:r>
            <a:endParaRPr lang="en-US" sz="850" dirty="0"/>
          </a:p>
        </p:txBody>
      </p:sp>
      <p:sp>
        <p:nvSpPr>
          <p:cNvPr id="46" name="Text 44"/>
          <p:cNvSpPr/>
          <p:nvPr/>
        </p:nvSpPr>
        <p:spPr>
          <a:xfrm>
            <a:off x="6153912" y="3447288"/>
            <a:ext cx="2587752"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 1.25x</a:t>
            </a:r>
            <a:endParaRPr lang="en-US" sz="680" dirty="0"/>
          </a:p>
        </p:txBody>
      </p:sp>
      <p:sp>
        <p:nvSpPr>
          <p:cNvPr id="47" name="Text 45"/>
          <p:cNvSpPr/>
          <p:nvPr/>
        </p:nvSpPr>
        <p:spPr>
          <a:xfrm>
            <a:off x="6153912" y="3584448"/>
            <a:ext cx="2587752" cy="841248"/>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An even stricter version that includes depreciation — can operating cash cover ALL fixed financial commitments? At 4.23x, the company covers its fixed charges over 4× with operating income. The small dip is because debt service doubled during expansion. Still very comfortable — 3× above the minimum safe level.</a:t>
            </a:r>
            <a:endParaRPr lang="en-US" sz="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F36"/>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84393"/>
          </a:solidFill>
          <a:ln w="12700">
            <a:solidFill>
              <a:srgbClr val="E84393"/>
            </a:solidFill>
            <a:prstDash val="solid"/>
          </a:ln>
        </p:spPr>
      </p:sp>
      <p:sp>
        <p:nvSpPr>
          <p:cNvPr id="3" name="Text 1"/>
          <p:cNvSpPr/>
          <p:nvPr/>
        </p:nvSpPr>
        <p:spPr>
          <a:xfrm>
            <a:off x="411480" y="109728"/>
            <a:ext cx="8321040" cy="47548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Efficiency Ratios – Part 1</a:t>
            </a:r>
            <a:endParaRPr lang="en-US" sz="2000" dirty="0"/>
          </a:p>
        </p:txBody>
      </p:sp>
      <p:sp>
        <p:nvSpPr>
          <p:cNvPr id="4" name="Text 2"/>
          <p:cNvSpPr/>
          <p:nvPr/>
        </p:nvSpPr>
        <p:spPr>
          <a:xfrm>
            <a:off x="411480" y="566928"/>
            <a:ext cx="8321040" cy="256032"/>
          </a:xfrm>
          <a:prstGeom prst="rect">
            <a:avLst/>
          </a:prstGeom>
          <a:noFill/>
          <a:ln/>
        </p:spPr>
        <p:txBody>
          <a:bodyPr wrap="square" rtlCol="0" anchor="ctr"/>
          <a:lstStyle/>
          <a:p>
            <a:pPr marL="0" indent="0">
              <a:buNone/>
            </a:pPr>
            <a:r>
              <a:rPr lang="en-US" sz="1050" dirty="0">
                <a:solidFill>
                  <a:srgbClr val="A0AEC0"/>
                </a:solidFill>
                <a:latin typeface="Calibri" pitchFamily="34" charset="0"/>
                <a:ea typeface="Calibri" pitchFamily="34" charset="-122"/>
                <a:cs typeface="Calibri" pitchFamily="34" charset="-120"/>
              </a:rPr>
              <a:t>How well does the company use its assets to earn revenue? → Higher turnover = more efficient</a:t>
            </a:r>
            <a:endParaRPr lang="en-US" sz="1050" dirty="0"/>
          </a:p>
        </p:txBody>
      </p:sp>
      <p:sp>
        <p:nvSpPr>
          <p:cNvPr id="5" name="Shape 3"/>
          <p:cNvSpPr/>
          <p:nvPr/>
        </p:nvSpPr>
        <p:spPr>
          <a:xfrm>
            <a:off x="411480" y="868680"/>
            <a:ext cx="8321040" cy="22860"/>
          </a:xfrm>
          <a:prstGeom prst="rect">
            <a:avLst/>
          </a:prstGeom>
          <a:solidFill>
            <a:srgbClr val="2D3561"/>
          </a:solidFill>
          <a:ln w="12700">
            <a:solidFill>
              <a:srgbClr val="2D3561"/>
            </a:solidFill>
            <a:prstDash val="solid"/>
          </a:ln>
        </p:spPr>
      </p:sp>
      <p:sp>
        <p:nvSpPr>
          <p:cNvPr id="6" name="Shape 4"/>
          <p:cNvSpPr/>
          <p:nvPr/>
        </p:nvSpPr>
        <p:spPr>
          <a:xfrm>
            <a:off x="274320" y="987552"/>
            <a:ext cx="2724912" cy="1664208"/>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7" name="Shape 5"/>
          <p:cNvSpPr/>
          <p:nvPr/>
        </p:nvSpPr>
        <p:spPr>
          <a:xfrm>
            <a:off x="274320" y="987552"/>
            <a:ext cx="45720" cy="1664208"/>
          </a:xfrm>
          <a:prstGeom prst="rect">
            <a:avLst/>
          </a:prstGeom>
          <a:solidFill>
            <a:srgbClr val="E84393"/>
          </a:solidFill>
          <a:ln w="12700">
            <a:solidFill>
              <a:srgbClr val="E84393"/>
            </a:solidFill>
            <a:prstDash val="solid"/>
          </a:ln>
        </p:spPr>
      </p:sp>
      <p:sp>
        <p:nvSpPr>
          <p:cNvPr id="8" name="Text 6"/>
          <p:cNvSpPr/>
          <p:nvPr/>
        </p:nvSpPr>
        <p:spPr>
          <a:xfrm>
            <a:off x="365760" y="1051560"/>
            <a:ext cx="2587752"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Total Asset Turnover</a:t>
            </a:r>
            <a:endParaRPr lang="en-US" sz="950" dirty="0"/>
          </a:p>
        </p:txBody>
      </p:sp>
      <p:sp>
        <p:nvSpPr>
          <p:cNvPr id="9" name="Text 7"/>
          <p:cNvSpPr/>
          <p:nvPr/>
        </p:nvSpPr>
        <p:spPr>
          <a:xfrm>
            <a:off x="365760" y="1280160"/>
            <a:ext cx="2587752"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Revenue ÷ Avg. Total Assets</a:t>
            </a:r>
            <a:endParaRPr lang="en-US" sz="680" dirty="0"/>
          </a:p>
        </p:txBody>
      </p:sp>
      <p:sp>
        <p:nvSpPr>
          <p:cNvPr id="10" name="Text 8"/>
          <p:cNvSpPr/>
          <p:nvPr/>
        </p:nvSpPr>
        <p:spPr>
          <a:xfrm>
            <a:off x="365760" y="1426464"/>
            <a:ext cx="2587752"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0.69x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0.54x</a:t>
            </a:r>
            <a:endParaRPr lang="en-US" sz="850" dirty="0"/>
          </a:p>
        </p:txBody>
      </p:sp>
      <p:sp>
        <p:nvSpPr>
          <p:cNvPr id="11" name="Text 9"/>
          <p:cNvSpPr/>
          <p:nvPr/>
        </p:nvSpPr>
        <p:spPr>
          <a:xfrm>
            <a:off x="365760" y="1618488"/>
            <a:ext cx="2587752"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0.5x–1.0x</a:t>
            </a:r>
            <a:endParaRPr lang="en-US" sz="680" dirty="0"/>
          </a:p>
        </p:txBody>
      </p:sp>
      <p:sp>
        <p:nvSpPr>
          <p:cNvPr id="12" name="Text 10"/>
          <p:cNvSpPr/>
          <p:nvPr/>
        </p:nvSpPr>
        <p:spPr>
          <a:xfrm>
            <a:off x="365760" y="1755648"/>
            <a:ext cx="2587752" cy="841248"/>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For every ₹1 of total assets (offices, cash, investments), the company generated ₹0.69 of revenue. This improved because revenue grew 67% while assets grew only 26%. Think of it as getting more mileage from the same car — efficiency is rising. Tech platforms typically score below 1x due to large cash holdings.</a:t>
            </a:r>
            <a:endParaRPr lang="en-US" sz="680" dirty="0"/>
          </a:p>
        </p:txBody>
      </p:sp>
      <p:sp>
        <p:nvSpPr>
          <p:cNvPr id="13" name="Shape 11"/>
          <p:cNvSpPr/>
          <p:nvPr/>
        </p:nvSpPr>
        <p:spPr>
          <a:xfrm>
            <a:off x="3172968" y="987552"/>
            <a:ext cx="2724912" cy="1664208"/>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14" name="Shape 12"/>
          <p:cNvSpPr/>
          <p:nvPr/>
        </p:nvSpPr>
        <p:spPr>
          <a:xfrm>
            <a:off x="3172968" y="987552"/>
            <a:ext cx="45720" cy="1664208"/>
          </a:xfrm>
          <a:prstGeom prst="rect">
            <a:avLst/>
          </a:prstGeom>
          <a:solidFill>
            <a:srgbClr val="E84393"/>
          </a:solidFill>
          <a:ln w="12700">
            <a:solidFill>
              <a:srgbClr val="E84393"/>
            </a:solidFill>
            <a:prstDash val="solid"/>
          </a:ln>
        </p:spPr>
      </p:sp>
      <p:sp>
        <p:nvSpPr>
          <p:cNvPr id="15" name="Text 13"/>
          <p:cNvSpPr/>
          <p:nvPr/>
        </p:nvSpPr>
        <p:spPr>
          <a:xfrm>
            <a:off x="3264408" y="1051560"/>
            <a:ext cx="2587752"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Fixed Asset Turnover</a:t>
            </a:r>
            <a:endParaRPr lang="en-US" sz="950" dirty="0"/>
          </a:p>
        </p:txBody>
      </p:sp>
      <p:sp>
        <p:nvSpPr>
          <p:cNvPr id="16" name="Text 14"/>
          <p:cNvSpPr/>
          <p:nvPr/>
        </p:nvSpPr>
        <p:spPr>
          <a:xfrm>
            <a:off x="3264408" y="1280160"/>
            <a:ext cx="2587752"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Revenue ÷ Avg. Fixed Assets</a:t>
            </a:r>
            <a:endParaRPr lang="en-US" sz="680" dirty="0"/>
          </a:p>
        </p:txBody>
      </p:sp>
      <p:sp>
        <p:nvSpPr>
          <p:cNvPr id="17" name="Text 15"/>
          <p:cNvSpPr/>
          <p:nvPr/>
        </p:nvSpPr>
        <p:spPr>
          <a:xfrm>
            <a:off x="3264408" y="1426464"/>
            <a:ext cx="2587752"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10.30x  </a:t>
            </a:r>
            <a:r>
              <a:rPr lang="en-US" sz="900" dirty="0">
                <a:solidFill>
                  <a:srgbClr val="F87171"/>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12.17x</a:t>
            </a:r>
            <a:endParaRPr lang="en-US" sz="850" dirty="0"/>
          </a:p>
        </p:txBody>
      </p:sp>
      <p:sp>
        <p:nvSpPr>
          <p:cNvPr id="18" name="Text 16"/>
          <p:cNvSpPr/>
          <p:nvPr/>
        </p:nvSpPr>
        <p:spPr>
          <a:xfrm>
            <a:off x="3264408" y="1618488"/>
            <a:ext cx="2587752"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&gt; 5x</a:t>
            </a:r>
            <a:endParaRPr lang="en-US" sz="680" dirty="0"/>
          </a:p>
        </p:txBody>
      </p:sp>
      <p:sp>
        <p:nvSpPr>
          <p:cNvPr id="19" name="Text 17"/>
          <p:cNvSpPr/>
          <p:nvPr/>
        </p:nvSpPr>
        <p:spPr>
          <a:xfrm>
            <a:off x="3264408" y="1755648"/>
            <a:ext cx="2587752" cy="841248"/>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For every ₹1 invested in physical assets (warehouses, offices, IT), the company generated ₹10.30 of revenue — still exceptional! The dip is because Blinkit rapidly built dark stores (ROU assets grew from ₹690 Cr to ₹1,918 Cr). Once these new stores ramp up sales, this ratio will bounce back up.</a:t>
            </a:r>
            <a:endParaRPr lang="en-US" sz="680" dirty="0"/>
          </a:p>
        </p:txBody>
      </p:sp>
      <p:sp>
        <p:nvSpPr>
          <p:cNvPr id="20" name="Shape 18"/>
          <p:cNvSpPr/>
          <p:nvPr/>
        </p:nvSpPr>
        <p:spPr>
          <a:xfrm>
            <a:off x="6062472" y="987552"/>
            <a:ext cx="2724912" cy="1664208"/>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21" name="Shape 19"/>
          <p:cNvSpPr/>
          <p:nvPr/>
        </p:nvSpPr>
        <p:spPr>
          <a:xfrm>
            <a:off x="6062472" y="987552"/>
            <a:ext cx="45720" cy="1664208"/>
          </a:xfrm>
          <a:prstGeom prst="rect">
            <a:avLst/>
          </a:prstGeom>
          <a:solidFill>
            <a:srgbClr val="E84393"/>
          </a:solidFill>
          <a:ln w="12700">
            <a:solidFill>
              <a:srgbClr val="E84393"/>
            </a:solidFill>
            <a:prstDash val="solid"/>
          </a:ln>
        </p:spPr>
      </p:sp>
      <p:sp>
        <p:nvSpPr>
          <p:cNvPr id="22" name="Text 20"/>
          <p:cNvSpPr/>
          <p:nvPr/>
        </p:nvSpPr>
        <p:spPr>
          <a:xfrm>
            <a:off x="6153912" y="1051560"/>
            <a:ext cx="2587752"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Inventory Turnover</a:t>
            </a:r>
            <a:endParaRPr lang="en-US" sz="950" dirty="0"/>
          </a:p>
        </p:txBody>
      </p:sp>
      <p:sp>
        <p:nvSpPr>
          <p:cNvPr id="23" name="Text 21"/>
          <p:cNvSpPr/>
          <p:nvPr/>
        </p:nvSpPr>
        <p:spPr>
          <a:xfrm>
            <a:off x="6153912" y="1280160"/>
            <a:ext cx="2587752"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COGS ÷ Avg. Inventory</a:t>
            </a:r>
            <a:endParaRPr lang="en-US" sz="680" dirty="0"/>
          </a:p>
        </p:txBody>
      </p:sp>
      <p:sp>
        <p:nvSpPr>
          <p:cNvPr id="24" name="Text 22"/>
          <p:cNvSpPr/>
          <p:nvPr/>
        </p:nvSpPr>
        <p:spPr>
          <a:xfrm>
            <a:off x="6153912" y="1426464"/>
            <a:ext cx="2587752"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42.16x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32.75x</a:t>
            </a:r>
            <a:endParaRPr lang="en-US" sz="850" dirty="0"/>
          </a:p>
        </p:txBody>
      </p:sp>
      <p:sp>
        <p:nvSpPr>
          <p:cNvPr id="25" name="Text 23"/>
          <p:cNvSpPr/>
          <p:nvPr/>
        </p:nvSpPr>
        <p:spPr>
          <a:xfrm>
            <a:off x="6153912" y="1618488"/>
            <a:ext cx="2587752"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&gt; 10x</a:t>
            </a:r>
            <a:endParaRPr lang="en-US" sz="680" dirty="0"/>
          </a:p>
        </p:txBody>
      </p:sp>
      <p:sp>
        <p:nvSpPr>
          <p:cNvPr id="26" name="Text 24"/>
          <p:cNvSpPr/>
          <p:nvPr/>
        </p:nvSpPr>
        <p:spPr>
          <a:xfrm>
            <a:off x="6153912" y="1755648"/>
            <a:ext cx="2587752" cy="841248"/>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The company sells and restocks its entire inventory 42 times a year — once every 8–9 days! This is Blinkit's dark store model working perfectly — items fly off the shelf so fast that stock never piles up. The jump from 32.75x reflects Blinkit's rapid revenue growth without proportionate inventory build-up.</a:t>
            </a:r>
            <a:endParaRPr lang="en-US" sz="680" dirty="0"/>
          </a:p>
        </p:txBody>
      </p:sp>
      <p:sp>
        <p:nvSpPr>
          <p:cNvPr id="27" name="Shape 25"/>
          <p:cNvSpPr/>
          <p:nvPr/>
        </p:nvSpPr>
        <p:spPr>
          <a:xfrm>
            <a:off x="274320" y="2816352"/>
            <a:ext cx="2724912" cy="1664208"/>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28" name="Shape 26"/>
          <p:cNvSpPr/>
          <p:nvPr/>
        </p:nvSpPr>
        <p:spPr>
          <a:xfrm>
            <a:off x="274320" y="2816352"/>
            <a:ext cx="45720" cy="1664208"/>
          </a:xfrm>
          <a:prstGeom prst="rect">
            <a:avLst/>
          </a:prstGeom>
          <a:solidFill>
            <a:srgbClr val="E84393"/>
          </a:solidFill>
          <a:ln w="12700">
            <a:solidFill>
              <a:srgbClr val="E84393"/>
            </a:solidFill>
            <a:prstDash val="solid"/>
          </a:ln>
        </p:spPr>
      </p:sp>
      <p:sp>
        <p:nvSpPr>
          <p:cNvPr id="29" name="Text 27"/>
          <p:cNvSpPr/>
          <p:nvPr/>
        </p:nvSpPr>
        <p:spPr>
          <a:xfrm>
            <a:off x="365760" y="2880360"/>
            <a:ext cx="2587752"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Inventory Days</a:t>
            </a:r>
            <a:endParaRPr lang="en-US" sz="950" dirty="0"/>
          </a:p>
        </p:txBody>
      </p:sp>
      <p:sp>
        <p:nvSpPr>
          <p:cNvPr id="30" name="Text 28"/>
          <p:cNvSpPr/>
          <p:nvPr/>
        </p:nvSpPr>
        <p:spPr>
          <a:xfrm>
            <a:off x="365760" y="3108960"/>
            <a:ext cx="2587752"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365 ÷ Inventory Turnover</a:t>
            </a:r>
            <a:endParaRPr lang="en-US" sz="680" dirty="0"/>
          </a:p>
        </p:txBody>
      </p:sp>
      <p:sp>
        <p:nvSpPr>
          <p:cNvPr id="31" name="Text 29"/>
          <p:cNvSpPr/>
          <p:nvPr/>
        </p:nvSpPr>
        <p:spPr>
          <a:xfrm>
            <a:off x="365760" y="3255264"/>
            <a:ext cx="2587752"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8.7 days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11.1 days</a:t>
            </a:r>
            <a:endParaRPr lang="en-US" sz="850" dirty="0"/>
          </a:p>
        </p:txBody>
      </p:sp>
      <p:sp>
        <p:nvSpPr>
          <p:cNvPr id="32" name="Text 30"/>
          <p:cNvSpPr/>
          <p:nvPr/>
        </p:nvSpPr>
        <p:spPr>
          <a:xfrm>
            <a:off x="365760" y="3447288"/>
            <a:ext cx="2587752"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&lt; 15 days</a:t>
            </a:r>
            <a:endParaRPr lang="en-US" sz="680" dirty="0"/>
          </a:p>
        </p:txBody>
      </p:sp>
      <p:sp>
        <p:nvSpPr>
          <p:cNvPr id="33" name="Text 31"/>
          <p:cNvSpPr/>
          <p:nvPr/>
        </p:nvSpPr>
        <p:spPr>
          <a:xfrm>
            <a:off x="365760" y="3584448"/>
            <a:ext cx="2587752" cy="841248"/>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Products sit in the warehouse for only 8.7 days on average before being sold — down from 11 days. For a 10-minute delivery platform, holding inventory for less than 9 days is the sign of an extremely tight and efficient supply chain. Less time sitting = less wastage, less storage cost, fresher products.</a:t>
            </a:r>
            <a:endParaRPr lang="en-US" sz="680" dirty="0"/>
          </a:p>
        </p:txBody>
      </p:sp>
      <p:sp>
        <p:nvSpPr>
          <p:cNvPr id="34" name="Shape 32"/>
          <p:cNvSpPr/>
          <p:nvPr/>
        </p:nvSpPr>
        <p:spPr>
          <a:xfrm>
            <a:off x="3172968" y="2816352"/>
            <a:ext cx="2724912" cy="1664208"/>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35" name="Shape 33"/>
          <p:cNvSpPr/>
          <p:nvPr/>
        </p:nvSpPr>
        <p:spPr>
          <a:xfrm>
            <a:off x="3172968" y="2816352"/>
            <a:ext cx="45720" cy="1664208"/>
          </a:xfrm>
          <a:prstGeom prst="rect">
            <a:avLst/>
          </a:prstGeom>
          <a:solidFill>
            <a:srgbClr val="E84393"/>
          </a:solidFill>
          <a:ln w="12700">
            <a:solidFill>
              <a:srgbClr val="E84393"/>
            </a:solidFill>
            <a:prstDash val="solid"/>
          </a:ln>
        </p:spPr>
      </p:sp>
      <p:sp>
        <p:nvSpPr>
          <p:cNvPr id="36" name="Text 34"/>
          <p:cNvSpPr/>
          <p:nvPr/>
        </p:nvSpPr>
        <p:spPr>
          <a:xfrm>
            <a:off x="3264408" y="2880360"/>
            <a:ext cx="2587752"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Debtors Turnover</a:t>
            </a:r>
            <a:endParaRPr lang="en-US" sz="950" dirty="0"/>
          </a:p>
        </p:txBody>
      </p:sp>
      <p:sp>
        <p:nvSpPr>
          <p:cNvPr id="37" name="Text 35"/>
          <p:cNvSpPr/>
          <p:nvPr/>
        </p:nvSpPr>
        <p:spPr>
          <a:xfrm>
            <a:off x="3264408" y="3108960"/>
            <a:ext cx="2587752"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Revenue ÷ Avg. Receivables</a:t>
            </a:r>
            <a:endParaRPr lang="en-US" sz="680" dirty="0"/>
          </a:p>
        </p:txBody>
      </p:sp>
      <p:sp>
        <p:nvSpPr>
          <p:cNvPr id="38" name="Text 36"/>
          <p:cNvSpPr/>
          <p:nvPr/>
        </p:nvSpPr>
        <p:spPr>
          <a:xfrm>
            <a:off x="3264408" y="3255264"/>
            <a:ext cx="2587752"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14.78x  </a:t>
            </a:r>
            <a:r>
              <a:rPr lang="en-US" sz="900" dirty="0">
                <a:solidFill>
                  <a:srgbClr val="F87171"/>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15.26x</a:t>
            </a:r>
            <a:endParaRPr lang="en-US" sz="850" dirty="0"/>
          </a:p>
        </p:txBody>
      </p:sp>
      <p:sp>
        <p:nvSpPr>
          <p:cNvPr id="39" name="Text 37"/>
          <p:cNvSpPr/>
          <p:nvPr/>
        </p:nvSpPr>
        <p:spPr>
          <a:xfrm>
            <a:off x="3264408" y="3447288"/>
            <a:ext cx="2587752"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&gt; 10x</a:t>
            </a:r>
            <a:endParaRPr lang="en-US" sz="680" dirty="0"/>
          </a:p>
        </p:txBody>
      </p:sp>
      <p:sp>
        <p:nvSpPr>
          <p:cNvPr id="40" name="Text 38"/>
          <p:cNvSpPr/>
          <p:nvPr/>
        </p:nvSpPr>
        <p:spPr>
          <a:xfrm>
            <a:off x="3264408" y="3584448"/>
            <a:ext cx="2587752" cy="841248"/>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The company collects money owed by customers and partners ~14.78 times a year. The tiny dip is because the B2B segment (Hyperpure) gives restaurants more credit time, slightly growing receivables. But 14.78x is still strong — the company is not struggling to collect what it's owed.</a:t>
            </a:r>
            <a:endParaRPr lang="en-US" sz="680" dirty="0"/>
          </a:p>
        </p:txBody>
      </p:sp>
      <p:sp>
        <p:nvSpPr>
          <p:cNvPr id="41" name="Shape 39"/>
          <p:cNvSpPr/>
          <p:nvPr/>
        </p:nvSpPr>
        <p:spPr>
          <a:xfrm>
            <a:off x="6062472" y="2816352"/>
            <a:ext cx="2724912" cy="1664208"/>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42" name="Shape 40"/>
          <p:cNvSpPr/>
          <p:nvPr/>
        </p:nvSpPr>
        <p:spPr>
          <a:xfrm>
            <a:off x="6062472" y="2816352"/>
            <a:ext cx="45720" cy="1664208"/>
          </a:xfrm>
          <a:prstGeom prst="rect">
            <a:avLst/>
          </a:prstGeom>
          <a:solidFill>
            <a:srgbClr val="E84393"/>
          </a:solidFill>
          <a:ln w="12700">
            <a:solidFill>
              <a:srgbClr val="E84393"/>
            </a:solidFill>
            <a:prstDash val="solid"/>
          </a:ln>
        </p:spPr>
      </p:sp>
      <p:sp>
        <p:nvSpPr>
          <p:cNvPr id="43" name="Text 41"/>
          <p:cNvSpPr/>
          <p:nvPr/>
        </p:nvSpPr>
        <p:spPr>
          <a:xfrm>
            <a:off x="6153912" y="2880360"/>
            <a:ext cx="2587752"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Collection Period</a:t>
            </a:r>
            <a:endParaRPr lang="en-US" sz="950" dirty="0"/>
          </a:p>
        </p:txBody>
      </p:sp>
      <p:sp>
        <p:nvSpPr>
          <p:cNvPr id="44" name="Text 42"/>
          <p:cNvSpPr/>
          <p:nvPr/>
        </p:nvSpPr>
        <p:spPr>
          <a:xfrm>
            <a:off x="6153912" y="3108960"/>
            <a:ext cx="2587752"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365 ÷ Debtors Turnover</a:t>
            </a:r>
            <a:endParaRPr lang="en-US" sz="680" dirty="0"/>
          </a:p>
        </p:txBody>
      </p:sp>
      <p:sp>
        <p:nvSpPr>
          <p:cNvPr id="45" name="Text 43"/>
          <p:cNvSpPr/>
          <p:nvPr/>
        </p:nvSpPr>
        <p:spPr>
          <a:xfrm>
            <a:off x="6153912" y="3255264"/>
            <a:ext cx="2587752"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24.7 days  </a:t>
            </a:r>
            <a:r>
              <a:rPr lang="en-US" sz="900" dirty="0">
                <a:solidFill>
                  <a:srgbClr val="F87171"/>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23.9 days</a:t>
            </a:r>
            <a:endParaRPr lang="en-US" sz="850" dirty="0"/>
          </a:p>
        </p:txBody>
      </p:sp>
      <p:sp>
        <p:nvSpPr>
          <p:cNvPr id="46" name="Text 44"/>
          <p:cNvSpPr/>
          <p:nvPr/>
        </p:nvSpPr>
        <p:spPr>
          <a:xfrm>
            <a:off x="6153912" y="3447288"/>
            <a:ext cx="2587752"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&lt; 45 days</a:t>
            </a:r>
            <a:endParaRPr lang="en-US" sz="680" dirty="0"/>
          </a:p>
        </p:txBody>
      </p:sp>
      <p:sp>
        <p:nvSpPr>
          <p:cNvPr id="47" name="Text 45"/>
          <p:cNvSpPr/>
          <p:nvPr/>
        </p:nvSpPr>
        <p:spPr>
          <a:xfrm>
            <a:off x="6153912" y="3584448"/>
            <a:ext cx="2587752" cy="841248"/>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On average, it takes 24.7 days to collect cash after making a sale. The marginal increase (by less than 1 day) is due to growing B2B credit sales to restaurants via Hyperpure. At under 25 days, collection is fast and healthy — far better than the 45-day industry limit.</a:t>
            </a:r>
            <a:endParaRPr lang="en-US" sz="6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F36"/>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84393"/>
          </a:solidFill>
          <a:ln w="12700">
            <a:solidFill>
              <a:srgbClr val="E84393"/>
            </a:solidFill>
            <a:prstDash val="solid"/>
          </a:ln>
        </p:spPr>
      </p:sp>
      <p:sp>
        <p:nvSpPr>
          <p:cNvPr id="3" name="Text 1"/>
          <p:cNvSpPr/>
          <p:nvPr/>
        </p:nvSpPr>
        <p:spPr>
          <a:xfrm>
            <a:off x="411480" y="109728"/>
            <a:ext cx="8321040" cy="47548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Efficiency Ratios – Part 2</a:t>
            </a:r>
            <a:endParaRPr lang="en-US" sz="2000" dirty="0"/>
          </a:p>
        </p:txBody>
      </p:sp>
      <p:sp>
        <p:nvSpPr>
          <p:cNvPr id="4" name="Text 2"/>
          <p:cNvSpPr/>
          <p:nvPr/>
        </p:nvSpPr>
        <p:spPr>
          <a:xfrm>
            <a:off x="411480" y="566928"/>
            <a:ext cx="8321040" cy="256032"/>
          </a:xfrm>
          <a:prstGeom prst="rect">
            <a:avLst/>
          </a:prstGeom>
          <a:noFill/>
          <a:ln/>
        </p:spPr>
        <p:txBody>
          <a:bodyPr wrap="square" rtlCol="0" anchor="ctr"/>
          <a:lstStyle/>
          <a:p>
            <a:pPr marL="0" indent="0">
              <a:buNone/>
            </a:pPr>
            <a:r>
              <a:rPr lang="en-US" sz="1050" dirty="0">
                <a:solidFill>
                  <a:srgbClr val="A0AEC0"/>
                </a:solidFill>
                <a:latin typeface="Calibri" pitchFamily="34" charset="0"/>
                <a:ea typeface="Calibri" pitchFamily="34" charset="-122"/>
                <a:cs typeface="Calibri" pitchFamily="34" charset="-120"/>
              </a:rPr>
              <a:t>Working capital deployment, current assets usage &amp; supplier payment speed</a:t>
            </a:r>
            <a:endParaRPr lang="en-US" sz="1050" dirty="0"/>
          </a:p>
        </p:txBody>
      </p:sp>
      <p:sp>
        <p:nvSpPr>
          <p:cNvPr id="5" name="Shape 3"/>
          <p:cNvSpPr/>
          <p:nvPr/>
        </p:nvSpPr>
        <p:spPr>
          <a:xfrm>
            <a:off x="411480" y="868680"/>
            <a:ext cx="8321040" cy="22860"/>
          </a:xfrm>
          <a:prstGeom prst="rect">
            <a:avLst/>
          </a:prstGeom>
          <a:solidFill>
            <a:srgbClr val="2D3561"/>
          </a:solidFill>
          <a:ln w="12700">
            <a:solidFill>
              <a:srgbClr val="2D3561"/>
            </a:solidFill>
            <a:prstDash val="solid"/>
          </a:ln>
        </p:spPr>
      </p:sp>
      <p:sp>
        <p:nvSpPr>
          <p:cNvPr id="6" name="Shape 4"/>
          <p:cNvSpPr/>
          <p:nvPr/>
        </p:nvSpPr>
        <p:spPr>
          <a:xfrm>
            <a:off x="274320" y="987552"/>
            <a:ext cx="4069080" cy="1737360"/>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7" name="Shape 5"/>
          <p:cNvSpPr/>
          <p:nvPr/>
        </p:nvSpPr>
        <p:spPr>
          <a:xfrm>
            <a:off x="274320" y="987552"/>
            <a:ext cx="45720" cy="1737360"/>
          </a:xfrm>
          <a:prstGeom prst="rect">
            <a:avLst/>
          </a:prstGeom>
          <a:solidFill>
            <a:srgbClr val="E84393"/>
          </a:solidFill>
          <a:ln w="12700">
            <a:solidFill>
              <a:srgbClr val="E84393"/>
            </a:solidFill>
            <a:prstDash val="solid"/>
          </a:ln>
        </p:spPr>
      </p:sp>
      <p:sp>
        <p:nvSpPr>
          <p:cNvPr id="8" name="Text 6"/>
          <p:cNvSpPr/>
          <p:nvPr/>
        </p:nvSpPr>
        <p:spPr>
          <a:xfrm>
            <a:off x="365760" y="1051560"/>
            <a:ext cx="3931920"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Avg. Payment Period</a:t>
            </a:r>
            <a:endParaRPr lang="en-US" sz="950" dirty="0"/>
          </a:p>
        </p:txBody>
      </p:sp>
      <p:sp>
        <p:nvSpPr>
          <p:cNvPr id="9" name="Text 7"/>
          <p:cNvSpPr/>
          <p:nvPr/>
        </p:nvSpPr>
        <p:spPr>
          <a:xfrm>
            <a:off x="365760" y="1280160"/>
            <a:ext cx="3931920"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(Avg. Payables ÷ Purchases) × 365</a:t>
            </a:r>
            <a:endParaRPr lang="en-US" sz="680" dirty="0"/>
          </a:p>
        </p:txBody>
      </p:sp>
      <p:sp>
        <p:nvSpPr>
          <p:cNvPr id="10" name="Text 8"/>
          <p:cNvSpPr/>
          <p:nvPr/>
        </p:nvSpPr>
        <p:spPr>
          <a:xfrm>
            <a:off x="365760" y="1426464"/>
            <a:ext cx="3931920"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79 days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112 days</a:t>
            </a:r>
            <a:endParaRPr lang="en-US" sz="850" dirty="0"/>
          </a:p>
        </p:txBody>
      </p:sp>
      <p:sp>
        <p:nvSpPr>
          <p:cNvPr id="11" name="Text 9"/>
          <p:cNvSpPr/>
          <p:nvPr/>
        </p:nvSpPr>
        <p:spPr>
          <a:xfrm>
            <a:off x="365760" y="1618488"/>
            <a:ext cx="3931920"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30–90 days</a:t>
            </a:r>
            <a:endParaRPr lang="en-US" sz="680" dirty="0"/>
          </a:p>
        </p:txBody>
      </p:sp>
      <p:sp>
        <p:nvSpPr>
          <p:cNvPr id="12" name="Text 10"/>
          <p:cNvSpPr/>
          <p:nvPr/>
        </p:nvSpPr>
        <p:spPr>
          <a:xfrm>
            <a:off x="365760" y="1755648"/>
            <a:ext cx="3931920" cy="914400"/>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Previously the company was taking 112 days to pay suppliers — which is too slow and strains relationships. Now it's paying within 79 days, which is in the healthy range. This big improvement shows the company is becoming more financially disciplined and building better trust with its vendor ecosystem (restaurants, grocery suppliers).</a:t>
            </a:r>
            <a:endParaRPr lang="en-US" sz="680" dirty="0"/>
          </a:p>
        </p:txBody>
      </p:sp>
      <p:sp>
        <p:nvSpPr>
          <p:cNvPr id="13" name="Shape 11"/>
          <p:cNvSpPr/>
          <p:nvPr/>
        </p:nvSpPr>
        <p:spPr>
          <a:xfrm>
            <a:off x="4709160" y="987552"/>
            <a:ext cx="4069080" cy="1737360"/>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14" name="Shape 12"/>
          <p:cNvSpPr/>
          <p:nvPr/>
        </p:nvSpPr>
        <p:spPr>
          <a:xfrm>
            <a:off x="4709160" y="987552"/>
            <a:ext cx="45720" cy="1737360"/>
          </a:xfrm>
          <a:prstGeom prst="rect">
            <a:avLst/>
          </a:prstGeom>
          <a:solidFill>
            <a:srgbClr val="E84393"/>
          </a:solidFill>
          <a:ln w="12700">
            <a:solidFill>
              <a:srgbClr val="E84393"/>
            </a:solidFill>
            <a:prstDash val="solid"/>
          </a:ln>
        </p:spPr>
      </p:sp>
      <p:sp>
        <p:nvSpPr>
          <p:cNvPr id="15" name="Text 13"/>
          <p:cNvSpPr/>
          <p:nvPr/>
        </p:nvSpPr>
        <p:spPr>
          <a:xfrm>
            <a:off x="4800600" y="1051560"/>
            <a:ext cx="3931920"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Working Capital Turnover</a:t>
            </a:r>
            <a:endParaRPr lang="en-US" sz="950" dirty="0"/>
          </a:p>
        </p:txBody>
      </p:sp>
      <p:sp>
        <p:nvSpPr>
          <p:cNvPr id="16" name="Text 14"/>
          <p:cNvSpPr/>
          <p:nvPr/>
        </p:nvSpPr>
        <p:spPr>
          <a:xfrm>
            <a:off x="4800600" y="1280160"/>
            <a:ext cx="3931920"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Revenue ÷ Avg. Working Capital</a:t>
            </a:r>
            <a:endParaRPr lang="en-US" sz="680" dirty="0"/>
          </a:p>
        </p:txBody>
      </p:sp>
      <p:sp>
        <p:nvSpPr>
          <p:cNvPr id="17" name="Text 15"/>
          <p:cNvSpPr/>
          <p:nvPr/>
        </p:nvSpPr>
        <p:spPr>
          <a:xfrm>
            <a:off x="4800600" y="1426464"/>
            <a:ext cx="3931920"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3.45x  </a:t>
            </a:r>
            <a:r>
              <a:rPr lang="en-US" sz="900" dirty="0">
                <a:solidFill>
                  <a:srgbClr val="F87171"/>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3.59x</a:t>
            </a:r>
            <a:endParaRPr lang="en-US" sz="850" dirty="0"/>
          </a:p>
        </p:txBody>
      </p:sp>
      <p:sp>
        <p:nvSpPr>
          <p:cNvPr id="18" name="Text 16"/>
          <p:cNvSpPr/>
          <p:nvPr/>
        </p:nvSpPr>
        <p:spPr>
          <a:xfrm>
            <a:off x="4800600" y="1618488"/>
            <a:ext cx="3931920"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2x–6x</a:t>
            </a:r>
            <a:endParaRPr lang="en-US" sz="680" dirty="0"/>
          </a:p>
        </p:txBody>
      </p:sp>
      <p:sp>
        <p:nvSpPr>
          <p:cNvPr id="19" name="Text 17"/>
          <p:cNvSpPr/>
          <p:nvPr/>
        </p:nvSpPr>
        <p:spPr>
          <a:xfrm>
            <a:off x="4800600" y="1755648"/>
            <a:ext cx="3931920" cy="914400"/>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For every ₹1 of working capital (day-to-day operational funds), the company generated ₹3.45 of revenue. The slight dip is because working capital expanded a lot after the QIP fundraise (money raised but not yet deployed). This is temporary — as the funds get invested in growth, this ratio will improve.</a:t>
            </a:r>
            <a:endParaRPr lang="en-US" sz="680" dirty="0"/>
          </a:p>
        </p:txBody>
      </p:sp>
      <p:sp>
        <p:nvSpPr>
          <p:cNvPr id="20" name="Shape 18"/>
          <p:cNvSpPr/>
          <p:nvPr/>
        </p:nvSpPr>
        <p:spPr>
          <a:xfrm>
            <a:off x="274320" y="2880360"/>
            <a:ext cx="4069080" cy="1737360"/>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21" name="Shape 19"/>
          <p:cNvSpPr/>
          <p:nvPr/>
        </p:nvSpPr>
        <p:spPr>
          <a:xfrm>
            <a:off x="274320" y="2880360"/>
            <a:ext cx="45720" cy="1737360"/>
          </a:xfrm>
          <a:prstGeom prst="rect">
            <a:avLst/>
          </a:prstGeom>
          <a:solidFill>
            <a:srgbClr val="E84393"/>
          </a:solidFill>
          <a:ln w="12700">
            <a:solidFill>
              <a:srgbClr val="E84393"/>
            </a:solidFill>
            <a:prstDash val="solid"/>
          </a:ln>
        </p:spPr>
      </p:sp>
      <p:sp>
        <p:nvSpPr>
          <p:cNvPr id="22" name="Text 20"/>
          <p:cNvSpPr/>
          <p:nvPr/>
        </p:nvSpPr>
        <p:spPr>
          <a:xfrm>
            <a:off x="365760" y="2944368"/>
            <a:ext cx="3931920"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Current Assets Turnover</a:t>
            </a:r>
            <a:endParaRPr lang="en-US" sz="950" dirty="0"/>
          </a:p>
        </p:txBody>
      </p:sp>
      <p:sp>
        <p:nvSpPr>
          <p:cNvPr id="23" name="Text 21"/>
          <p:cNvSpPr/>
          <p:nvPr/>
        </p:nvSpPr>
        <p:spPr>
          <a:xfrm>
            <a:off x="365760" y="3172968"/>
            <a:ext cx="3931920"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Revenue ÷ Avg. Current Assets</a:t>
            </a:r>
            <a:endParaRPr lang="en-US" sz="680" dirty="0"/>
          </a:p>
        </p:txBody>
      </p:sp>
      <p:sp>
        <p:nvSpPr>
          <p:cNvPr id="24" name="Text 22"/>
          <p:cNvSpPr/>
          <p:nvPr/>
        </p:nvSpPr>
        <p:spPr>
          <a:xfrm>
            <a:off x="365760" y="3319272"/>
            <a:ext cx="3931920"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2.36x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0.21x</a:t>
            </a:r>
            <a:endParaRPr lang="en-US" sz="850" dirty="0"/>
          </a:p>
        </p:txBody>
      </p:sp>
      <p:sp>
        <p:nvSpPr>
          <p:cNvPr id="25" name="Text 23"/>
          <p:cNvSpPr/>
          <p:nvPr/>
        </p:nvSpPr>
        <p:spPr>
          <a:xfrm>
            <a:off x="365760" y="3511296"/>
            <a:ext cx="3931920"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&gt; 1.0x</a:t>
            </a:r>
            <a:endParaRPr lang="en-US" sz="680" dirty="0"/>
          </a:p>
        </p:txBody>
      </p:sp>
      <p:sp>
        <p:nvSpPr>
          <p:cNvPr id="26" name="Text 24"/>
          <p:cNvSpPr/>
          <p:nvPr/>
        </p:nvSpPr>
        <p:spPr>
          <a:xfrm>
            <a:off x="365760" y="3648456"/>
            <a:ext cx="3931920" cy="914400"/>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A dramatic jump from 0.21x to 2.36x! The FY24 number was distorted because of unusually large current assets that year (a one-time accounting effect). FY25's 2.36x is the "normal" and healthy picture — for every ₹1 of current assets, the company earns ₹2.36 in revenue. Good utilisation of liquid resources.</a:t>
            </a:r>
            <a:endParaRPr lang="en-US" sz="680" dirty="0"/>
          </a:p>
        </p:txBody>
      </p:sp>
      <p:sp>
        <p:nvSpPr>
          <p:cNvPr id="27" name="Shape 25"/>
          <p:cNvSpPr/>
          <p:nvPr/>
        </p:nvSpPr>
        <p:spPr>
          <a:xfrm>
            <a:off x="4709160" y="2880360"/>
            <a:ext cx="4069080" cy="1737360"/>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28" name="Shape 26"/>
          <p:cNvSpPr/>
          <p:nvPr/>
        </p:nvSpPr>
        <p:spPr>
          <a:xfrm>
            <a:off x="4709160" y="2880360"/>
            <a:ext cx="45720" cy="1737360"/>
          </a:xfrm>
          <a:prstGeom prst="rect">
            <a:avLst/>
          </a:prstGeom>
          <a:solidFill>
            <a:srgbClr val="E84393"/>
          </a:solidFill>
          <a:ln w="12700">
            <a:solidFill>
              <a:srgbClr val="E84393"/>
            </a:solidFill>
            <a:prstDash val="solid"/>
          </a:ln>
        </p:spPr>
      </p:sp>
      <p:sp>
        <p:nvSpPr>
          <p:cNvPr id="29" name="Text 27"/>
          <p:cNvSpPr/>
          <p:nvPr/>
        </p:nvSpPr>
        <p:spPr>
          <a:xfrm>
            <a:off x="4800600" y="2944368"/>
            <a:ext cx="3931920"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Creditors Turnover</a:t>
            </a:r>
            <a:endParaRPr lang="en-US" sz="950" dirty="0"/>
          </a:p>
        </p:txBody>
      </p:sp>
      <p:sp>
        <p:nvSpPr>
          <p:cNvPr id="30" name="Text 28"/>
          <p:cNvSpPr/>
          <p:nvPr/>
        </p:nvSpPr>
        <p:spPr>
          <a:xfrm>
            <a:off x="4800600" y="3172968"/>
            <a:ext cx="3931920"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Credit Purchases ÷ Avg. Payables</a:t>
            </a:r>
            <a:endParaRPr lang="en-US" sz="680" dirty="0"/>
          </a:p>
        </p:txBody>
      </p:sp>
      <p:sp>
        <p:nvSpPr>
          <p:cNvPr id="31" name="Text 29"/>
          <p:cNvSpPr/>
          <p:nvPr/>
        </p:nvSpPr>
        <p:spPr>
          <a:xfrm>
            <a:off x="4800600" y="3319272"/>
            <a:ext cx="3931920"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4.67x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3.25x</a:t>
            </a:r>
            <a:endParaRPr lang="en-US" sz="850" dirty="0"/>
          </a:p>
        </p:txBody>
      </p:sp>
      <p:sp>
        <p:nvSpPr>
          <p:cNvPr id="32" name="Text 30"/>
          <p:cNvSpPr/>
          <p:nvPr/>
        </p:nvSpPr>
        <p:spPr>
          <a:xfrm>
            <a:off x="4800600" y="3511296"/>
            <a:ext cx="3931920"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4x–8x</a:t>
            </a:r>
            <a:endParaRPr lang="en-US" sz="680" dirty="0"/>
          </a:p>
        </p:txBody>
      </p:sp>
      <p:sp>
        <p:nvSpPr>
          <p:cNvPr id="33" name="Text 31"/>
          <p:cNvSpPr/>
          <p:nvPr/>
        </p:nvSpPr>
        <p:spPr>
          <a:xfrm>
            <a:off x="4800600" y="3648456"/>
            <a:ext cx="3931920" cy="914400"/>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The company is now paying its suppliers about 4.67 times a year (once every ~78 days) — much more frequently than before (3.25x or once every 112 days). Paying suppliers faster is a sign of financial strength and helps the company negotiate better deals and discounts. Now comfortably within the ideal 4–8x range.</a:t>
            </a:r>
            <a:endParaRPr lang="en-US" sz="6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F36"/>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84393"/>
          </a:solidFill>
          <a:ln w="12700">
            <a:solidFill>
              <a:srgbClr val="E84393"/>
            </a:solidFill>
            <a:prstDash val="solid"/>
          </a:ln>
        </p:spPr>
      </p:sp>
      <p:sp>
        <p:nvSpPr>
          <p:cNvPr id="3" name="Text 1"/>
          <p:cNvSpPr/>
          <p:nvPr/>
        </p:nvSpPr>
        <p:spPr>
          <a:xfrm>
            <a:off x="411480" y="109728"/>
            <a:ext cx="8321040" cy="47548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Profitability Ratios – Part 1</a:t>
            </a:r>
            <a:endParaRPr lang="en-US" sz="2000" dirty="0"/>
          </a:p>
        </p:txBody>
      </p:sp>
      <p:sp>
        <p:nvSpPr>
          <p:cNvPr id="4" name="Text 2"/>
          <p:cNvSpPr/>
          <p:nvPr/>
        </p:nvSpPr>
        <p:spPr>
          <a:xfrm>
            <a:off x="411480" y="566928"/>
            <a:ext cx="8321040" cy="256032"/>
          </a:xfrm>
          <a:prstGeom prst="rect">
            <a:avLst/>
          </a:prstGeom>
          <a:noFill/>
          <a:ln/>
        </p:spPr>
        <p:txBody>
          <a:bodyPr wrap="square" rtlCol="0" anchor="ctr"/>
          <a:lstStyle/>
          <a:p>
            <a:pPr marL="0" indent="0">
              <a:buNone/>
            </a:pPr>
            <a:r>
              <a:rPr lang="en-US" sz="1050" dirty="0">
                <a:solidFill>
                  <a:srgbClr val="A0AEC0"/>
                </a:solidFill>
                <a:latin typeface="Calibri" pitchFamily="34" charset="0"/>
                <a:ea typeface="Calibri" pitchFamily="34" charset="-122"/>
                <a:cs typeface="Calibri" pitchFamily="34" charset="-120"/>
              </a:rPr>
              <a:t>How much profit does the company make from its revenue? → Higher margins = better business quality</a:t>
            </a:r>
            <a:endParaRPr lang="en-US" sz="1050" dirty="0"/>
          </a:p>
        </p:txBody>
      </p:sp>
      <p:sp>
        <p:nvSpPr>
          <p:cNvPr id="5" name="Shape 3"/>
          <p:cNvSpPr/>
          <p:nvPr/>
        </p:nvSpPr>
        <p:spPr>
          <a:xfrm>
            <a:off x="411480" y="868680"/>
            <a:ext cx="8321040" cy="22860"/>
          </a:xfrm>
          <a:prstGeom prst="rect">
            <a:avLst/>
          </a:prstGeom>
          <a:solidFill>
            <a:srgbClr val="2D3561"/>
          </a:solidFill>
          <a:ln w="12700">
            <a:solidFill>
              <a:srgbClr val="2D3561"/>
            </a:solidFill>
            <a:prstDash val="solid"/>
          </a:ln>
        </p:spPr>
      </p:sp>
      <p:sp>
        <p:nvSpPr>
          <p:cNvPr id="6" name="Shape 4"/>
          <p:cNvSpPr/>
          <p:nvPr/>
        </p:nvSpPr>
        <p:spPr>
          <a:xfrm>
            <a:off x="274320" y="987552"/>
            <a:ext cx="1709928" cy="4005072"/>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7" name="Shape 5"/>
          <p:cNvSpPr/>
          <p:nvPr/>
        </p:nvSpPr>
        <p:spPr>
          <a:xfrm>
            <a:off x="274320" y="987552"/>
            <a:ext cx="45720" cy="4005072"/>
          </a:xfrm>
          <a:prstGeom prst="rect">
            <a:avLst/>
          </a:prstGeom>
          <a:solidFill>
            <a:srgbClr val="E84393"/>
          </a:solidFill>
          <a:ln w="12700">
            <a:solidFill>
              <a:srgbClr val="E84393"/>
            </a:solidFill>
            <a:prstDash val="solid"/>
          </a:ln>
        </p:spPr>
      </p:sp>
      <p:sp>
        <p:nvSpPr>
          <p:cNvPr id="8" name="Text 6"/>
          <p:cNvSpPr/>
          <p:nvPr/>
        </p:nvSpPr>
        <p:spPr>
          <a:xfrm>
            <a:off x="365760" y="1051560"/>
            <a:ext cx="1572768"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Gross Profit Ratio</a:t>
            </a:r>
            <a:endParaRPr lang="en-US" sz="950" dirty="0"/>
          </a:p>
        </p:txBody>
      </p:sp>
      <p:sp>
        <p:nvSpPr>
          <p:cNvPr id="9" name="Text 7"/>
          <p:cNvSpPr/>
          <p:nvPr/>
        </p:nvSpPr>
        <p:spPr>
          <a:xfrm>
            <a:off x="365760" y="1280160"/>
            <a:ext cx="1572768"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(Revenue − COGS) ÷ Revenue</a:t>
            </a:r>
            <a:endParaRPr lang="en-US" sz="680" dirty="0"/>
          </a:p>
        </p:txBody>
      </p:sp>
      <p:sp>
        <p:nvSpPr>
          <p:cNvPr id="10" name="Text 8"/>
          <p:cNvSpPr/>
          <p:nvPr/>
        </p:nvSpPr>
        <p:spPr>
          <a:xfrm>
            <a:off x="365760" y="1426464"/>
            <a:ext cx="1572768"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72.50%  </a:t>
            </a:r>
            <a:r>
              <a:rPr lang="en-US" sz="900" dirty="0">
                <a:solidFill>
                  <a:srgbClr val="F87171"/>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76.21%</a:t>
            </a:r>
            <a:endParaRPr lang="en-US" sz="850" dirty="0"/>
          </a:p>
        </p:txBody>
      </p:sp>
      <p:sp>
        <p:nvSpPr>
          <p:cNvPr id="11" name="Text 9"/>
          <p:cNvSpPr/>
          <p:nvPr/>
        </p:nvSpPr>
        <p:spPr>
          <a:xfrm>
            <a:off x="365760" y="1618488"/>
            <a:ext cx="1572768"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&gt; 60%</a:t>
            </a:r>
            <a:endParaRPr lang="en-US" sz="680" dirty="0"/>
          </a:p>
        </p:txBody>
      </p:sp>
      <p:sp>
        <p:nvSpPr>
          <p:cNvPr id="12" name="Text 10"/>
          <p:cNvSpPr/>
          <p:nvPr/>
        </p:nvSpPr>
        <p:spPr>
          <a:xfrm>
            <a:off x="365760" y="1755648"/>
            <a:ext cx="1572768" cy="3182112"/>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Out of every ₹100 in revenue, ₹72.50 is "gross profit" before paying employees, ads, or rent. The dip from 76.21% happened because Blinkit and Hyperpure (which deal in physical goods) grew faster — these segments naturally have higher material costs. Still strong at 72.5%, showing the platform model's quality.</a:t>
            </a:r>
            <a:endParaRPr lang="en-US" sz="680" dirty="0"/>
          </a:p>
        </p:txBody>
      </p:sp>
      <p:sp>
        <p:nvSpPr>
          <p:cNvPr id="13" name="Shape 11"/>
          <p:cNvSpPr/>
          <p:nvPr/>
        </p:nvSpPr>
        <p:spPr>
          <a:xfrm>
            <a:off x="2075688" y="987552"/>
            <a:ext cx="1709928" cy="4005072"/>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14" name="Shape 12"/>
          <p:cNvSpPr/>
          <p:nvPr/>
        </p:nvSpPr>
        <p:spPr>
          <a:xfrm>
            <a:off x="2075688" y="987552"/>
            <a:ext cx="45720" cy="4005072"/>
          </a:xfrm>
          <a:prstGeom prst="rect">
            <a:avLst/>
          </a:prstGeom>
          <a:solidFill>
            <a:srgbClr val="E84393"/>
          </a:solidFill>
          <a:ln w="12700">
            <a:solidFill>
              <a:srgbClr val="E84393"/>
            </a:solidFill>
            <a:prstDash val="solid"/>
          </a:ln>
        </p:spPr>
      </p:sp>
      <p:sp>
        <p:nvSpPr>
          <p:cNvPr id="15" name="Text 13"/>
          <p:cNvSpPr/>
          <p:nvPr/>
        </p:nvSpPr>
        <p:spPr>
          <a:xfrm>
            <a:off x="2167128" y="1051560"/>
            <a:ext cx="1572768"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Operating Profit Ratio</a:t>
            </a:r>
            <a:endParaRPr lang="en-US" sz="950" dirty="0"/>
          </a:p>
        </p:txBody>
      </p:sp>
      <p:sp>
        <p:nvSpPr>
          <p:cNvPr id="16" name="Text 14"/>
          <p:cNvSpPr/>
          <p:nvPr/>
        </p:nvSpPr>
        <p:spPr>
          <a:xfrm>
            <a:off x="2167128" y="1280160"/>
            <a:ext cx="1572768"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EBIT ÷ Revenue</a:t>
            </a:r>
            <a:endParaRPr lang="en-US" sz="680" dirty="0"/>
          </a:p>
        </p:txBody>
      </p:sp>
      <p:sp>
        <p:nvSpPr>
          <p:cNvPr id="17" name="Text 15"/>
          <p:cNvSpPr/>
          <p:nvPr/>
        </p:nvSpPr>
        <p:spPr>
          <a:xfrm>
            <a:off x="2167128" y="1426464"/>
            <a:ext cx="1572768"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4.20%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3.00%</a:t>
            </a:r>
            <a:endParaRPr lang="en-US" sz="850" dirty="0"/>
          </a:p>
        </p:txBody>
      </p:sp>
      <p:sp>
        <p:nvSpPr>
          <p:cNvPr id="18" name="Text 16"/>
          <p:cNvSpPr/>
          <p:nvPr/>
        </p:nvSpPr>
        <p:spPr>
          <a:xfrm>
            <a:off x="2167128" y="1618488"/>
            <a:ext cx="1572768"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&gt; 5%</a:t>
            </a:r>
            <a:endParaRPr lang="en-US" sz="680" dirty="0"/>
          </a:p>
        </p:txBody>
      </p:sp>
      <p:sp>
        <p:nvSpPr>
          <p:cNvPr id="19" name="Text 17"/>
          <p:cNvSpPr/>
          <p:nvPr/>
        </p:nvSpPr>
        <p:spPr>
          <a:xfrm>
            <a:off x="2167128" y="1755648"/>
            <a:ext cx="1572768" cy="3182112"/>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After paying all operating costs (salaries, delivery, ads, rent), ₹4.20 of profit remains per ₹100 of revenue — up from ₹3. This is a big jump! Operating profit (EBIT) nearly doubled (₹363 Cr → ₹851 Cr) because revenue grew much faster than costs. The company is approaching the 5% target as it scales.</a:t>
            </a:r>
            <a:endParaRPr lang="en-US" sz="680" dirty="0"/>
          </a:p>
        </p:txBody>
      </p:sp>
      <p:sp>
        <p:nvSpPr>
          <p:cNvPr id="20" name="Shape 18"/>
          <p:cNvSpPr/>
          <p:nvPr/>
        </p:nvSpPr>
        <p:spPr>
          <a:xfrm>
            <a:off x="3877056" y="987552"/>
            <a:ext cx="1709928" cy="4005072"/>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21" name="Shape 19"/>
          <p:cNvSpPr/>
          <p:nvPr/>
        </p:nvSpPr>
        <p:spPr>
          <a:xfrm>
            <a:off x="3877056" y="987552"/>
            <a:ext cx="45720" cy="4005072"/>
          </a:xfrm>
          <a:prstGeom prst="rect">
            <a:avLst/>
          </a:prstGeom>
          <a:solidFill>
            <a:srgbClr val="E84393"/>
          </a:solidFill>
          <a:ln w="12700">
            <a:solidFill>
              <a:srgbClr val="E84393"/>
            </a:solidFill>
            <a:prstDash val="solid"/>
          </a:ln>
        </p:spPr>
      </p:sp>
      <p:sp>
        <p:nvSpPr>
          <p:cNvPr id="22" name="Text 20"/>
          <p:cNvSpPr/>
          <p:nvPr/>
        </p:nvSpPr>
        <p:spPr>
          <a:xfrm>
            <a:off x="3968496" y="1051560"/>
            <a:ext cx="1572768"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Net Profit Ratio</a:t>
            </a:r>
            <a:endParaRPr lang="en-US" sz="950" dirty="0"/>
          </a:p>
        </p:txBody>
      </p:sp>
      <p:sp>
        <p:nvSpPr>
          <p:cNvPr id="23" name="Text 21"/>
          <p:cNvSpPr/>
          <p:nvPr/>
        </p:nvSpPr>
        <p:spPr>
          <a:xfrm>
            <a:off x="3968496" y="1280160"/>
            <a:ext cx="1572768"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PAT ÷ Revenue</a:t>
            </a:r>
            <a:endParaRPr lang="en-US" sz="680" dirty="0"/>
          </a:p>
        </p:txBody>
      </p:sp>
      <p:sp>
        <p:nvSpPr>
          <p:cNvPr id="24" name="Text 22"/>
          <p:cNvSpPr/>
          <p:nvPr/>
        </p:nvSpPr>
        <p:spPr>
          <a:xfrm>
            <a:off x="3968496" y="1426464"/>
            <a:ext cx="1572768"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2.60%  </a:t>
            </a:r>
            <a:r>
              <a:rPr lang="en-US" sz="900" dirty="0">
                <a:solidFill>
                  <a:srgbClr val="F87171"/>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2.90%</a:t>
            </a:r>
            <a:endParaRPr lang="en-US" sz="850" dirty="0"/>
          </a:p>
        </p:txBody>
      </p:sp>
      <p:sp>
        <p:nvSpPr>
          <p:cNvPr id="25" name="Text 23"/>
          <p:cNvSpPr/>
          <p:nvPr/>
        </p:nvSpPr>
        <p:spPr>
          <a:xfrm>
            <a:off x="3968496" y="1618488"/>
            <a:ext cx="1572768"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&gt; 5%</a:t>
            </a:r>
            <a:endParaRPr lang="en-US" sz="680" dirty="0"/>
          </a:p>
        </p:txBody>
      </p:sp>
      <p:sp>
        <p:nvSpPr>
          <p:cNvPr id="26" name="Text 24"/>
          <p:cNvSpPr/>
          <p:nvPr/>
        </p:nvSpPr>
        <p:spPr>
          <a:xfrm>
            <a:off x="3968496" y="1755648"/>
            <a:ext cx="1572768" cy="3182112"/>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Final net profit is ₹2.60 per ₹100 of revenue. The slight dip despite PAT growing 50% (₹351 Cr → ₹527 Cr) happened because revenue grew even faster (67%). This is actually a GOOD problem — the company is growing so fast that margin % temporarily compressed. Absolute profits keep rising strongly.</a:t>
            </a:r>
            <a:endParaRPr lang="en-US" sz="680" dirty="0"/>
          </a:p>
        </p:txBody>
      </p:sp>
      <p:sp>
        <p:nvSpPr>
          <p:cNvPr id="27" name="Shape 25"/>
          <p:cNvSpPr/>
          <p:nvPr/>
        </p:nvSpPr>
        <p:spPr>
          <a:xfrm>
            <a:off x="5678424" y="987552"/>
            <a:ext cx="1709928" cy="4005072"/>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28" name="Shape 26"/>
          <p:cNvSpPr/>
          <p:nvPr/>
        </p:nvSpPr>
        <p:spPr>
          <a:xfrm>
            <a:off x="5678424" y="987552"/>
            <a:ext cx="45720" cy="4005072"/>
          </a:xfrm>
          <a:prstGeom prst="rect">
            <a:avLst/>
          </a:prstGeom>
          <a:solidFill>
            <a:srgbClr val="E84393"/>
          </a:solidFill>
          <a:ln w="12700">
            <a:solidFill>
              <a:srgbClr val="E84393"/>
            </a:solidFill>
            <a:prstDash val="solid"/>
          </a:ln>
        </p:spPr>
      </p:sp>
      <p:sp>
        <p:nvSpPr>
          <p:cNvPr id="29" name="Text 27"/>
          <p:cNvSpPr/>
          <p:nvPr/>
        </p:nvSpPr>
        <p:spPr>
          <a:xfrm>
            <a:off x="5769864" y="1051560"/>
            <a:ext cx="1572768"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Return on Equity (ROE)</a:t>
            </a:r>
            <a:endParaRPr lang="en-US" sz="950" dirty="0"/>
          </a:p>
        </p:txBody>
      </p:sp>
      <p:sp>
        <p:nvSpPr>
          <p:cNvPr id="30" name="Text 28"/>
          <p:cNvSpPr/>
          <p:nvPr/>
        </p:nvSpPr>
        <p:spPr>
          <a:xfrm>
            <a:off x="5769864" y="1280160"/>
            <a:ext cx="1572768"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PAT ÷ Avg. Equity</a:t>
            </a:r>
            <a:endParaRPr lang="en-US" sz="680" dirty="0"/>
          </a:p>
        </p:txBody>
      </p:sp>
      <p:sp>
        <p:nvSpPr>
          <p:cNvPr id="31" name="Text 29"/>
          <p:cNvSpPr/>
          <p:nvPr/>
        </p:nvSpPr>
        <p:spPr>
          <a:xfrm>
            <a:off x="5769864" y="1426464"/>
            <a:ext cx="1572768"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2.08%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1.72%</a:t>
            </a:r>
            <a:endParaRPr lang="en-US" sz="850" dirty="0"/>
          </a:p>
        </p:txBody>
      </p:sp>
      <p:sp>
        <p:nvSpPr>
          <p:cNvPr id="32" name="Text 30"/>
          <p:cNvSpPr/>
          <p:nvPr/>
        </p:nvSpPr>
        <p:spPr>
          <a:xfrm>
            <a:off x="5769864" y="1618488"/>
            <a:ext cx="1572768"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&gt; 15%</a:t>
            </a:r>
            <a:endParaRPr lang="en-US" sz="680" dirty="0"/>
          </a:p>
        </p:txBody>
      </p:sp>
      <p:sp>
        <p:nvSpPr>
          <p:cNvPr id="33" name="Text 31"/>
          <p:cNvSpPr/>
          <p:nvPr/>
        </p:nvSpPr>
        <p:spPr>
          <a:xfrm>
            <a:off x="5769864" y="1755648"/>
            <a:ext cx="1572768" cy="3182112"/>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Shareholders earned a 2.08% return on their investment — up from 1.72%. This sounds low, but it's important context: the company just raised ₹8,500+ Cr via QIP (diluting equity massively) and is still in aggressive growth mode. As new investments start generating profits, ROE will accelerate.</a:t>
            </a:r>
            <a:endParaRPr lang="en-US" sz="680" dirty="0"/>
          </a:p>
        </p:txBody>
      </p:sp>
      <p:sp>
        <p:nvSpPr>
          <p:cNvPr id="34" name="Shape 32"/>
          <p:cNvSpPr/>
          <p:nvPr/>
        </p:nvSpPr>
        <p:spPr>
          <a:xfrm>
            <a:off x="7479792" y="987552"/>
            <a:ext cx="1709928" cy="4005072"/>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35" name="Shape 33"/>
          <p:cNvSpPr/>
          <p:nvPr/>
        </p:nvSpPr>
        <p:spPr>
          <a:xfrm>
            <a:off x="7479792" y="987552"/>
            <a:ext cx="45720" cy="4005072"/>
          </a:xfrm>
          <a:prstGeom prst="rect">
            <a:avLst/>
          </a:prstGeom>
          <a:solidFill>
            <a:srgbClr val="E84393"/>
          </a:solidFill>
          <a:ln w="12700">
            <a:solidFill>
              <a:srgbClr val="E84393"/>
            </a:solidFill>
            <a:prstDash val="solid"/>
          </a:ln>
        </p:spPr>
      </p:sp>
      <p:sp>
        <p:nvSpPr>
          <p:cNvPr id="36" name="Text 34"/>
          <p:cNvSpPr/>
          <p:nvPr/>
        </p:nvSpPr>
        <p:spPr>
          <a:xfrm>
            <a:off x="7571232" y="1051560"/>
            <a:ext cx="1572768"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ROCE</a:t>
            </a:r>
            <a:endParaRPr lang="en-US" sz="950" dirty="0"/>
          </a:p>
        </p:txBody>
      </p:sp>
      <p:sp>
        <p:nvSpPr>
          <p:cNvPr id="37" name="Text 35"/>
          <p:cNvSpPr/>
          <p:nvPr/>
        </p:nvSpPr>
        <p:spPr>
          <a:xfrm>
            <a:off x="7571232" y="1280160"/>
            <a:ext cx="1572768"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EBIT ÷ Avg. Capital Employed</a:t>
            </a:r>
            <a:endParaRPr lang="en-US" sz="680" dirty="0"/>
          </a:p>
        </p:txBody>
      </p:sp>
      <p:sp>
        <p:nvSpPr>
          <p:cNvPr id="38" name="Text 36"/>
          <p:cNvSpPr/>
          <p:nvPr/>
        </p:nvSpPr>
        <p:spPr>
          <a:xfrm>
            <a:off x="7571232" y="1426464"/>
            <a:ext cx="1572768"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3.18%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1.71%</a:t>
            </a:r>
            <a:endParaRPr lang="en-US" sz="850" dirty="0"/>
          </a:p>
        </p:txBody>
      </p:sp>
      <p:sp>
        <p:nvSpPr>
          <p:cNvPr id="39" name="Text 37"/>
          <p:cNvSpPr/>
          <p:nvPr/>
        </p:nvSpPr>
        <p:spPr>
          <a:xfrm>
            <a:off x="7571232" y="1618488"/>
            <a:ext cx="1572768"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&gt; 10%</a:t>
            </a:r>
            <a:endParaRPr lang="en-US" sz="680" dirty="0"/>
          </a:p>
        </p:txBody>
      </p:sp>
      <p:sp>
        <p:nvSpPr>
          <p:cNvPr id="40" name="Text 38"/>
          <p:cNvSpPr/>
          <p:nvPr/>
        </p:nvSpPr>
        <p:spPr>
          <a:xfrm>
            <a:off x="7571232" y="1755648"/>
            <a:ext cx="1572768" cy="3182112"/>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Return on Capital Employed almost doubled — from 1.71% to 3.18%. Every rupee of capital (equity + long-term debt) now generates almost twice as much operating profit as it did last year. This is the strongest indicator that the company's investments are starting to pay off. Still growing toward the 10% target.</a:t>
            </a:r>
            <a:endParaRPr lang="en-US" sz="6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F36"/>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84393"/>
          </a:solidFill>
          <a:ln w="12700">
            <a:solidFill>
              <a:srgbClr val="E84393"/>
            </a:solidFill>
            <a:prstDash val="solid"/>
          </a:ln>
        </p:spPr>
      </p:sp>
      <p:sp>
        <p:nvSpPr>
          <p:cNvPr id="3" name="Text 1"/>
          <p:cNvSpPr/>
          <p:nvPr/>
        </p:nvSpPr>
        <p:spPr>
          <a:xfrm>
            <a:off x="411480" y="109728"/>
            <a:ext cx="8321040" cy="47548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Profitability Ratios – Part 2</a:t>
            </a:r>
            <a:endParaRPr lang="en-US" sz="2000" dirty="0"/>
          </a:p>
        </p:txBody>
      </p:sp>
      <p:sp>
        <p:nvSpPr>
          <p:cNvPr id="4" name="Text 2"/>
          <p:cNvSpPr/>
          <p:nvPr/>
        </p:nvSpPr>
        <p:spPr>
          <a:xfrm>
            <a:off x="411480" y="566928"/>
            <a:ext cx="8321040" cy="256032"/>
          </a:xfrm>
          <a:prstGeom prst="rect">
            <a:avLst/>
          </a:prstGeom>
          <a:noFill/>
          <a:ln/>
        </p:spPr>
        <p:txBody>
          <a:bodyPr wrap="square" rtlCol="0" anchor="ctr"/>
          <a:lstStyle/>
          <a:p>
            <a:pPr marL="0" indent="0">
              <a:buNone/>
            </a:pPr>
            <a:r>
              <a:rPr lang="en-US" sz="1050" dirty="0">
                <a:solidFill>
                  <a:srgbClr val="A0AEC0"/>
                </a:solidFill>
                <a:latin typeface="Calibri" pitchFamily="34" charset="0"/>
                <a:ea typeface="Calibri" pitchFamily="34" charset="-122"/>
                <a:cs typeface="Calibri" pitchFamily="34" charset="-120"/>
              </a:rPr>
              <a:t>Per-share earnings, cost efficiency, asset returns &amp; market valuation</a:t>
            </a:r>
            <a:endParaRPr lang="en-US" sz="1050" dirty="0"/>
          </a:p>
        </p:txBody>
      </p:sp>
      <p:sp>
        <p:nvSpPr>
          <p:cNvPr id="5" name="Shape 3"/>
          <p:cNvSpPr/>
          <p:nvPr/>
        </p:nvSpPr>
        <p:spPr>
          <a:xfrm>
            <a:off x="411480" y="868680"/>
            <a:ext cx="8321040" cy="22860"/>
          </a:xfrm>
          <a:prstGeom prst="rect">
            <a:avLst/>
          </a:prstGeom>
          <a:solidFill>
            <a:srgbClr val="2D3561"/>
          </a:solidFill>
          <a:ln w="12700">
            <a:solidFill>
              <a:srgbClr val="2D3561"/>
            </a:solidFill>
            <a:prstDash val="solid"/>
          </a:ln>
        </p:spPr>
      </p:sp>
      <p:sp>
        <p:nvSpPr>
          <p:cNvPr id="6" name="Shape 4"/>
          <p:cNvSpPr/>
          <p:nvPr/>
        </p:nvSpPr>
        <p:spPr>
          <a:xfrm>
            <a:off x="274320" y="987552"/>
            <a:ext cx="1709928" cy="4005072"/>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7" name="Shape 5"/>
          <p:cNvSpPr/>
          <p:nvPr/>
        </p:nvSpPr>
        <p:spPr>
          <a:xfrm>
            <a:off x="274320" y="987552"/>
            <a:ext cx="45720" cy="4005072"/>
          </a:xfrm>
          <a:prstGeom prst="rect">
            <a:avLst/>
          </a:prstGeom>
          <a:solidFill>
            <a:srgbClr val="E84393"/>
          </a:solidFill>
          <a:ln w="12700">
            <a:solidFill>
              <a:srgbClr val="E84393"/>
            </a:solidFill>
            <a:prstDash val="solid"/>
          </a:ln>
        </p:spPr>
      </p:sp>
      <p:sp>
        <p:nvSpPr>
          <p:cNvPr id="8" name="Text 6"/>
          <p:cNvSpPr/>
          <p:nvPr/>
        </p:nvSpPr>
        <p:spPr>
          <a:xfrm>
            <a:off x="365760" y="1051560"/>
            <a:ext cx="1572768"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EPS (Basic)</a:t>
            </a:r>
            <a:endParaRPr lang="en-US" sz="950" dirty="0"/>
          </a:p>
        </p:txBody>
      </p:sp>
      <p:sp>
        <p:nvSpPr>
          <p:cNvPr id="9" name="Text 7"/>
          <p:cNvSpPr/>
          <p:nvPr/>
        </p:nvSpPr>
        <p:spPr>
          <a:xfrm>
            <a:off x="365760" y="1280160"/>
            <a:ext cx="1572768"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PAT ÷ Weighted Avg. Shares</a:t>
            </a:r>
            <a:endParaRPr lang="en-US" sz="680" dirty="0"/>
          </a:p>
        </p:txBody>
      </p:sp>
      <p:sp>
        <p:nvSpPr>
          <p:cNvPr id="10" name="Text 8"/>
          <p:cNvSpPr/>
          <p:nvPr/>
        </p:nvSpPr>
        <p:spPr>
          <a:xfrm>
            <a:off x="365760" y="1426464"/>
            <a:ext cx="1572768"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₹0.58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₹0.41</a:t>
            </a:r>
            <a:endParaRPr lang="en-US" sz="850" dirty="0"/>
          </a:p>
        </p:txBody>
      </p:sp>
      <p:sp>
        <p:nvSpPr>
          <p:cNvPr id="11" name="Text 9"/>
          <p:cNvSpPr/>
          <p:nvPr/>
        </p:nvSpPr>
        <p:spPr>
          <a:xfrm>
            <a:off x="365760" y="1618488"/>
            <a:ext cx="1572768"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Growing YoY</a:t>
            </a:r>
            <a:endParaRPr lang="en-US" sz="680" dirty="0"/>
          </a:p>
        </p:txBody>
      </p:sp>
      <p:sp>
        <p:nvSpPr>
          <p:cNvPr id="12" name="Text 10"/>
          <p:cNvSpPr/>
          <p:nvPr/>
        </p:nvSpPr>
        <p:spPr>
          <a:xfrm>
            <a:off x="365760" y="1755648"/>
            <a:ext cx="1572768" cy="3182112"/>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Each share earned ₹0.58 of profit — up 41% from ₹0.41. This means shareholders are getting more value per share even though the company issued new shares (QIP). The reason: profit grew faster (+50%) than the new shares issued. A rising EPS is a direct sign of growing shareholder wealth.</a:t>
            </a:r>
            <a:endParaRPr lang="en-US" sz="680" dirty="0"/>
          </a:p>
        </p:txBody>
      </p:sp>
      <p:sp>
        <p:nvSpPr>
          <p:cNvPr id="13" name="Shape 11"/>
          <p:cNvSpPr/>
          <p:nvPr/>
        </p:nvSpPr>
        <p:spPr>
          <a:xfrm>
            <a:off x="2075688" y="987552"/>
            <a:ext cx="1709928" cy="4005072"/>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14" name="Shape 12"/>
          <p:cNvSpPr/>
          <p:nvPr/>
        </p:nvSpPr>
        <p:spPr>
          <a:xfrm>
            <a:off x="2075688" y="987552"/>
            <a:ext cx="45720" cy="4005072"/>
          </a:xfrm>
          <a:prstGeom prst="rect">
            <a:avLst/>
          </a:prstGeom>
          <a:solidFill>
            <a:srgbClr val="E84393"/>
          </a:solidFill>
          <a:ln w="12700">
            <a:solidFill>
              <a:srgbClr val="E84393"/>
            </a:solidFill>
            <a:prstDash val="solid"/>
          </a:ln>
        </p:spPr>
      </p:sp>
      <p:sp>
        <p:nvSpPr>
          <p:cNvPr id="15" name="Text 13"/>
          <p:cNvSpPr/>
          <p:nvPr/>
        </p:nvSpPr>
        <p:spPr>
          <a:xfrm>
            <a:off x="2167128" y="1051560"/>
            <a:ext cx="1572768"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Operating Exp. Ratio</a:t>
            </a:r>
            <a:endParaRPr lang="en-US" sz="950" dirty="0"/>
          </a:p>
        </p:txBody>
      </p:sp>
      <p:sp>
        <p:nvSpPr>
          <p:cNvPr id="16" name="Text 14"/>
          <p:cNvSpPr/>
          <p:nvPr/>
        </p:nvSpPr>
        <p:spPr>
          <a:xfrm>
            <a:off x="2167128" y="1280160"/>
            <a:ext cx="1572768"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Operating Expenses ÷ Revenue</a:t>
            </a:r>
            <a:endParaRPr lang="en-US" sz="680" dirty="0"/>
          </a:p>
        </p:txBody>
      </p:sp>
      <p:sp>
        <p:nvSpPr>
          <p:cNvPr id="17" name="Text 15"/>
          <p:cNvSpPr/>
          <p:nvPr/>
        </p:nvSpPr>
        <p:spPr>
          <a:xfrm>
            <a:off x="2167128" y="1426464"/>
            <a:ext cx="1572768"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69.36%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75.86%</a:t>
            </a:r>
            <a:endParaRPr lang="en-US" sz="850" dirty="0"/>
          </a:p>
        </p:txBody>
      </p:sp>
      <p:sp>
        <p:nvSpPr>
          <p:cNvPr id="18" name="Text 16"/>
          <p:cNvSpPr/>
          <p:nvPr/>
        </p:nvSpPr>
        <p:spPr>
          <a:xfrm>
            <a:off x="2167128" y="1618488"/>
            <a:ext cx="1572768"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&lt; 75%</a:t>
            </a:r>
            <a:endParaRPr lang="en-US" sz="680" dirty="0"/>
          </a:p>
        </p:txBody>
      </p:sp>
      <p:sp>
        <p:nvSpPr>
          <p:cNvPr id="19" name="Text 17"/>
          <p:cNvSpPr/>
          <p:nvPr/>
        </p:nvSpPr>
        <p:spPr>
          <a:xfrm>
            <a:off x="2167128" y="1755648"/>
            <a:ext cx="1572768" cy="3182112"/>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Only 69.36 paise of every ₹1 earned is spent on running costs — down from 75.86 paise. In other words, the company is spending less to earn the same rupee of revenue. This 6.5 percentage point improvement is "operating leverage" — as scale grows, fixed costs spread over more revenue. A very healthy trend.</a:t>
            </a:r>
            <a:endParaRPr lang="en-US" sz="680" dirty="0"/>
          </a:p>
        </p:txBody>
      </p:sp>
      <p:sp>
        <p:nvSpPr>
          <p:cNvPr id="20" name="Shape 18"/>
          <p:cNvSpPr/>
          <p:nvPr/>
        </p:nvSpPr>
        <p:spPr>
          <a:xfrm>
            <a:off x="3877056" y="987552"/>
            <a:ext cx="1709928" cy="4005072"/>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21" name="Shape 19"/>
          <p:cNvSpPr/>
          <p:nvPr/>
        </p:nvSpPr>
        <p:spPr>
          <a:xfrm>
            <a:off x="3877056" y="987552"/>
            <a:ext cx="45720" cy="4005072"/>
          </a:xfrm>
          <a:prstGeom prst="rect">
            <a:avLst/>
          </a:prstGeom>
          <a:solidFill>
            <a:srgbClr val="E84393"/>
          </a:solidFill>
          <a:ln w="12700">
            <a:solidFill>
              <a:srgbClr val="E84393"/>
            </a:solidFill>
            <a:prstDash val="solid"/>
          </a:ln>
        </p:spPr>
      </p:sp>
      <p:sp>
        <p:nvSpPr>
          <p:cNvPr id="22" name="Text 20"/>
          <p:cNvSpPr/>
          <p:nvPr/>
        </p:nvSpPr>
        <p:spPr>
          <a:xfrm>
            <a:off x="3968496" y="1051560"/>
            <a:ext cx="1572768"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Return on Assets (ROA)</a:t>
            </a:r>
            <a:endParaRPr lang="en-US" sz="950" dirty="0"/>
          </a:p>
        </p:txBody>
      </p:sp>
      <p:sp>
        <p:nvSpPr>
          <p:cNvPr id="23" name="Text 21"/>
          <p:cNvSpPr/>
          <p:nvPr/>
        </p:nvSpPr>
        <p:spPr>
          <a:xfrm>
            <a:off x="3968496" y="1280160"/>
            <a:ext cx="1572768"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PAT ÷ Avg. Total Assets</a:t>
            </a:r>
            <a:endParaRPr lang="en-US" sz="680" dirty="0"/>
          </a:p>
        </p:txBody>
      </p:sp>
      <p:sp>
        <p:nvSpPr>
          <p:cNvPr id="24" name="Text 22"/>
          <p:cNvSpPr/>
          <p:nvPr/>
        </p:nvSpPr>
        <p:spPr>
          <a:xfrm>
            <a:off x="3968496" y="1426464"/>
            <a:ext cx="1572768"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1.79%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1.56%</a:t>
            </a:r>
            <a:endParaRPr lang="en-US" sz="850" dirty="0"/>
          </a:p>
        </p:txBody>
      </p:sp>
      <p:sp>
        <p:nvSpPr>
          <p:cNvPr id="25" name="Text 23"/>
          <p:cNvSpPr/>
          <p:nvPr/>
        </p:nvSpPr>
        <p:spPr>
          <a:xfrm>
            <a:off x="3968496" y="1618488"/>
            <a:ext cx="1572768"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&gt; 5%</a:t>
            </a:r>
            <a:endParaRPr lang="en-US" sz="680" dirty="0"/>
          </a:p>
        </p:txBody>
      </p:sp>
      <p:sp>
        <p:nvSpPr>
          <p:cNvPr id="26" name="Text 24"/>
          <p:cNvSpPr/>
          <p:nvPr/>
        </p:nvSpPr>
        <p:spPr>
          <a:xfrm>
            <a:off x="3968496" y="1755648"/>
            <a:ext cx="1572768" cy="3182112"/>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For every ₹100 of assets owned, the company earned ₹1.79 of net profit — up from ₹1.56. The number looks small because assets include ₹18,824 Cr of cash/investments not yet deployed. Once this capital is invested in Blinkit and new ventures, ROA will improve significantly. Profit growing faster than assets is the right direction.</a:t>
            </a:r>
            <a:endParaRPr lang="en-US" sz="680" dirty="0"/>
          </a:p>
        </p:txBody>
      </p:sp>
      <p:sp>
        <p:nvSpPr>
          <p:cNvPr id="27" name="Shape 25"/>
          <p:cNvSpPr/>
          <p:nvPr/>
        </p:nvSpPr>
        <p:spPr>
          <a:xfrm>
            <a:off x="5678424" y="987552"/>
            <a:ext cx="1709928" cy="4005072"/>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28" name="Shape 26"/>
          <p:cNvSpPr/>
          <p:nvPr/>
        </p:nvSpPr>
        <p:spPr>
          <a:xfrm>
            <a:off x="5678424" y="987552"/>
            <a:ext cx="45720" cy="4005072"/>
          </a:xfrm>
          <a:prstGeom prst="rect">
            <a:avLst/>
          </a:prstGeom>
          <a:solidFill>
            <a:srgbClr val="E84393"/>
          </a:solidFill>
          <a:ln w="12700">
            <a:solidFill>
              <a:srgbClr val="E84393"/>
            </a:solidFill>
            <a:prstDash val="solid"/>
          </a:ln>
        </p:spPr>
      </p:sp>
      <p:sp>
        <p:nvSpPr>
          <p:cNvPr id="29" name="Text 27"/>
          <p:cNvSpPr/>
          <p:nvPr/>
        </p:nvSpPr>
        <p:spPr>
          <a:xfrm>
            <a:off x="5769864" y="1051560"/>
            <a:ext cx="1572768"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Return on Investment (ROI)</a:t>
            </a:r>
            <a:endParaRPr lang="en-US" sz="950" dirty="0"/>
          </a:p>
        </p:txBody>
      </p:sp>
      <p:sp>
        <p:nvSpPr>
          <p:cNvPr id="30" name="Text 28"/>
          <p:cNvSpPr/>
          <p:nvPr/>
        </p:nvSpPr>
        <p:spPr>
          <a:xfrm>
            <a:off x="5769864" y="1280160"/>
            <a:ext cx="1572768"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PAT ÷ Total Equity × 100</a:t>
            </a:r>
            <a:endParaRPr lang="en-US" sz="680" dirty="0"/>
          </a:p>
        </p:txBody>
      </p:sp>
      <p:sp>
        <p:nvSpPr>
          <p:cNvPr id="31" name="Text 29"/>
          <p:cNvSpPr/>
          <p:nvPr/>
        </p:nvSpPr>
        <p:spPr>
          <a:xfrm>
            <a:off x="5769864" y="1426464"/>
            <a:ext cx="1572768"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1.74%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1.72%</a:t>
            </a:r>
            <a:endParaRPr lang="en-US" sz="850" dirty="0"/>
          </a:p>
        </p:txBody>
      </p:sp>
      <p:sp>
        <p:nvSpPr>
          <p:cNvPr id="32" name="Text 30"/>
          <p:cNvSpPr/>
          <p:nvPr/>
        </p:nvSpPr>
        <p:spPr>
          <a:xfrm>
            <a:off x="5769864" y="1618488"/>
            <a:ext cx="1572768"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&gt; 10%</a:t>
            </a:r>
            <a:endParaRPr lang="en-US" sz="680" dirty="0"/>
          </a:p>
        </p:txBody>
      </p:sp>
      <p:sp>
        <p:nvSpPr>
          <p:cNvPr id="33" name="Text 31"/>
          <p:cNvSpPr/>
          <p:nvPr/>
        </p:nvSpPr>
        <p:spPr>
          <a:xfrm>
            <a:off x="5769864" y="1755648"/>
            <a:ext cx="1572768" cy="3182112"/>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Almost flat — the company earned ₹1.74 per ₹100 of shareholder equity invested. The large QIP fundraise inflated the equity base, which dilutes this ratio in the short term. This is expected when a high-growth company raises capital to fund future expansion — ROI will compound as profits grow.</a:t>
            </a:r>
            <a:endParaRPr lang="en-US" sz="680" dirty="0"/>
          </a:p>
        </p:txBody>
      </p:sp>
      <p:sp>
        <p:nvSpPr>
          <p:cNvPr id="34" name="Shape 32"/>
          <p:cNvSpPr/>
          <p:nvPr/>
        </p:nvSpPr>
        <p:spPr>
          <a:xfrm>
            <a:off x="7479792" y="987552"/>
            <a:ext cx="1709928" cy="4005072"/>
          </a:xfrm>
          <a:prstGeom prst="rect">
            <a:avLst/>
          </a:prstGeom>
          <a:solidFill>
            <a:srgbClr val="2D3561"/>
          </a:solidFill>
          <a:ln w="6350">
            <a:solidFill>
              <a:srgbClr val="E84393"/>
            </a:solidFill>
            <a:prstDash val="solid"/>
          </a:ln>
          <a:effectLst>
            <a:outerShdw blurRad="101600" dist="38100" dir="8100000" algn="bl" rotWithShape="0">
              <a:srgbClr val="000000">
                <a:alpha val="25000"/>
              </a:srgbClr>
            </a:outerShdw>
          </a:effectLst>
        </p:spPr>
      </p:sp>
      <p:sp>
        <p:nvSpPr>
          <p:cNvPr id="35" name="Shape 33"/>
          <p:cNvSpPr/>
          <p:nvPr/>
        </p:nvSpPr>
        <p:spPr>
          <a:xfrm>
            <a:off x="7479792" y="987552"/>
            <a:ext cx="45720" cy="4005072"/>
          </a:xfrm>
          <a:prstGeom prst="rect">
            <a:avLst/>
          </a:prstGeom>
          <a:solidFill>
            <a:srgbClr val="E84393"/>
          </a:solidFill>
          <a:ln w="12700">
            <a:solidFill>
              <a:srgbClr val="E84393"/>
            </a:solidFill>
            <a:prstDash val="solid"/>
          </a:ln>
        </p:spPr>
      </p:sp>
      <p:sp>
        <p:nvSpPr>
          <p:cNvPr id="36" name="Text 34"/>
          <p:cNvSpPr/>
          <p:nvPr/>
        </p:nvSpPr>
        <p:spPr>
          <a:xfrm>
            <a:off x="7571232" y="1051560"/>
            <a:ext cx="1572768" cy="23774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P/E Ratio</a:t>
            </a:r>
            <a:endParaRPr lang="en-US" sz="950" dirty="0"/>
          </a:p>
        </p:txBody>
      </p:sp>
      <p:sp>
        <p:nvSpPr>
          <p:cNvPr id="37" name="Text 35"/>
          <p:cNvSpPr/>
          <p:nvPr/>
        </p:nvSpPr>
        <p:spPr>
          <a:xfrm>
            <a:off x="7571232" y="1280160"/>
            <a:ext cx="1572768" cy="155448"/>
          </a:xfrm>
          <a:prstGeom prst="rect">
            <a:avLst/>
          </a:prstGeom>
          <a:noFill/>
          <a:ln/>
        </p:spPr>
        <p:txBody>
          <a:bodyPr wrap="square" rtlCol="0" anchor="ctr"/>
          <a:lstStyle/>
          <a:p>
            <a:pPr marL="0" indent="0">
              <a:buNone/>
            </a:pPr>
            <a:r>
              <a:rPr lang="en-US" sz="680" i="1" dirty="0">
                <a:solidFill>
                  <a:srgbClr val="FACC15"/>
                </a:solidFill>
                <a:latin typeface="Calibri" pitchFamily="34" charset="0"/>
                <a:ea typeface="Calibri" pitchFamily="34" charset="-122"/>
                <a:cs typeface="Calibri" pitchFamily="34" charset="-120"/>
              </a:rPr>
              <a:t>Formula: Market Price ÷ EPS</a:t>
            </a:r>
            <a:endParaRPr lang="en-US" sz="680" dirty="0"/>
          </a:p>
        </p:txBody>
      </p:sp>
      <p:sp>
        <p:nvSpPr>
          <p:cNvPr id="38" name="Text 36"/>
          <p:cNvSpPr/>
          <p:nvPr/>
        </p:nvSpPr>
        <p:spPr>
          <a:xfrm>
            <a:off x="7571232" y="1426464"/>
            <a:ext cx="1572768" cy="192024"/>
          </a:xfrm>
          <a:prstGeom prst="rect">
            <a:avLst/>
          </a:prstGeom>
          <a:noFill/>
          <a:ln/>
        </p:spPr>
        <p:txBody>
          <a:bodyPr wrap="square" rtlCol="0" anchor="ctr"/>
          <a:lstStyle/>
          <a:p>
            <a:pPr marL="0" indent="0">
              <a:buNone/>
            </a:pPr>
            <a:r>
              <a:rPr lang="en-US" sz="850" b="1" dirty="0">
                <a:solidFill>
                  <a:srgbClr val="E8EAF6"/>
                </a:solidFill>
                <a:latin typeface="Calibri" pitchFamily="34" charset="0"/>
                <a:ea typeface="Calibri" pitchFamily="34" charset="-122"/>
                <a:cs typeface="Calibri" pitchFamily="34" charset="-120"/>
              </a:rPr>
              <a:t>FY25: </a:t>
            </a:r>
            <a:r>
              <a:rPr lang="en-US" sz="1000" b="1" dirty="0">
                <a:solidFill>
                  <a:srgbClr val="00C896"/>
                </a:solidFill>
                <a:latin typeface="Calibri" pitchFamily="34" charset="0"/>
                <a:ea typeface="Calibri" pitchFamily="34" charset="-122"/>
                <a:cs typeface="Calibri" pitchFamily="34" charset="-120"/>
              </a:rPr>
              <a:t>303x  </a:t>
            </a:r>
            <a:r>
              <a:rPr lang="en-US" sz="900" dirty="0">
                <a:solidFill>
                  <a:srgbClr val="00C896"/>
                </a:solidFill>
                <a:latin typeface="Calibri" pitchFamily="34" charset="0"/>
                <a:ea typeface="Calibri" pitchFamily="34" charset="-122"/>
                <a:cs typeface="Calibri" pitchFamily="34" charset="-120"/>
              </a:rPr>
              <a:t>▲ </a:t>
            </a:r>
            <a:r>
              <a:rPr lang="en-US" sz="850" b="1" dirty="0">
                <a:solidFill>
                  <a:srgbClr val="E8EAF6"/>
                </a:solidFill>
                <a:latin typeface="Calibri" pitchFamily="34" charset="0"/>
                <a:ea typeface="Calibri" pitchFamily="34" charset="-122"/>
                <a:cs typeface="Calibri" pitchFamily="34" charset="-120"/>
              </a:rPr>
              <a:t>FY24: </a:t>
            </a:r>
            <a:r>
              <a:rPr lang="en-US" sz="850" dirty="0">
                <a:solidFill>
                  <a:srgbClr val="A0AEC0"/>
                </a:solidFill>
                <a:latin typeface="Calibri" pitchFamily="34" charset="0"/>
                <a:ea typeface="Calibri" pitchFamily="34" charset="-122"/>
                <a:cs typeface="Calibri" pitchFamily="34" charset="-120"/>
              </a:rPr>
              <a:t>512x</a:t>
            </a:r>
            <a:endParaRPr lang="en-US" sz="850" dirty="0"/>
          </a:p>
        </p:txBody>
      </p:sp>
      <p:sp>
        <p:nvSpPr>
          <p:cNvPr id="39" name="Text 37"/>
          <p:cNvSpPr/>
          <p:nvPr/>
        </p:nvSpPr>
        <p:spPr>
          <a:xfrm>
            <a:off x="7571232" y="1618488"/>
            <a:ext cx="1572768" cy="146304"/>
          </a:xfrm>
          <a:prstGeom prst="rect">
            <a:avLst/>
          </a:prstGeom>
          <a:noFill/>
          <a:ln/>
        </p:spPr>
        <p:txBody>
          <a:bodyPr wrap="square" rtlCol="0" anchor="ctr"/>
          <a:lstStyle/>
          <a:p>
            <a:pPr marL="0" indent="0">
              <a:buNone/>
            </a:pPr>
            <a:r>
              <a:rPr lang="en-US" sz="680" dirty="0">
                <a:solidFill>
                  <a:srgbClr val="FACC15"/>
                </a:solidFill>
                <a:latin typeface="Calibri" pitchFamily="34" charset="0"/>
                <a:ea typeface="Calibri" pitchFamily="34" charset="-122"/>
                <a:cs typeface="Calibri" pitchFamily="34" charset="-120"/>
              </a:rPr>
              <a:t>📌 Ideal: 25x–60x (sector avg.)</a:t>
            </a:r>
            <a:endParaRPr lang="en-US" sz="680" dirty="0"/>
          </a:p>
        </p:txBody>
      </p:sp>
      <p:sp>
        <p:nvSpPr>
          <p:cNvPr id="40" name="Text 38"/>
          <p:cNvSpPr/>
          <p:nvPr/>
        </p:nvSpPr>
        <p:spPr>
          <a:xfrm>
            <a:off x="7571232" y="1755648"/>
            <a:ext cx="1572768" cy="3182112"/>
          </a:xfrm>
          <a:prstGeom prst="rect">
            <a:avLst/>
          </a:prstGeom>
          <a:noFill/>
          <a:ln/>
        </p:spPr>
        <p:txBody>
          <a:bodyPr wrap="square" rtlCol="0" anchor="ctr"/>
          <a:lstStyle/>
          <a:p>
            <a:pPr marL="0" indent="0">
              <a:buNone/>
            </a:pPr>
            <a:r>
              <a:rPr lang="en-US" sz="680" dirty="0">
                <a:solidFill>
                  <a:srgbClr val="A0AEC0"/>
                </a:solidFill>
                <a:latin typeface="Calibri" pitchFamily="34" charset="0"/>
                <a:ea typeface="Calibri" pitchFamily="34" charset="-122"/>
                <a:cs typeface="Calibri" pitchFamily="34" charset="-120"/>
              </a:rPr>
              <a:t>The stock trades at 303× its annual earnings — down from 512× a year ago. The drop is GOOD news: earnings are catching up to the high market price. Investors still pay a premium because they believe in future growth — but the premium is narrowing. For context, profitable tech stocks average 25–60×; Eternal's premium reflects high growth expectations.</a:t>
            </a:r>
            <a:endParaRPr lang="en-US" sz="6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F36"/>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84393"/>
          </a:solidFill>
          <a:ln w="12700">
            <a:solidFill>
              <a:srgbClr val="E84393"/>
            </a:solidFill>
            <a:prstDash val="solid"/>
          </a:ln>
        </p:spPr>
      </p:sp>
      <p:sp>
        <p:nvSpPr>
          <p:cNvPr id="3" name="Text 1"/>
          <p:cNvSpPr/>
          <p:nvPr/>
        </p:nvSpPr>
        <p:spPr>
          <a:xfrm>
            <a:off x="411480" y="109728"/>
            <a:ext cx="8321040" cy="47548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DuPont Analysis</a:t>
            </a:r>
            <a:endParaRPr lang="en-US" sz="2000" dirty="0"/>
          </a:p>
        </p:txBody>
      </p:sp>
      <p:sp>
        <p:nvSpPr>
          <p:cNvPr id="4" name="Text 2"/>
          <p:cNvSpPr/>
          <p:nvPr/>
        </p:nvSpPr>
        <p:spPr>
          <a:xfrm>
            <a:off x="411480" y="566928"/>
            <a:ext cx="8321040" cy="256032"/>
          </a:xfrm>
          <a:prstGeom prst="rect">
            <a:avLst/>
          </a:prstGeom>
          <a:noFill/>
          <a:ln/>
        </p:spPr>
        <p:txBody>
          <a:bodyPr wrap="square" rtlCol="0" anchor="ctr"/>
          <a:lstStyle/>
          <a:p>
            <a:pPr marL="0" indent="0">
              <a:buNone/>
            </a:pPr>
            <a:r>
              <a:rPr lang="en-US" sz="1050" dirty="0">
                <a:solidFill>
                  <a:srgbClr val="A0AEC0"/>
                </a:solidFill>
                <a:latin typeface="Calibri" pitchFamily="34" charset="0"/>
                <a:ea typeface="Calibri" pitchFamily="34" charset="-122"/>
                <a:cs typeface="Calibri" pitchFamily="34" charset="-120"/>
              </a:rPr>
              <a:t>Breaking down ROE into 3 levers — What is really driving shareholder returns?</a:t>
            </a:r>
            <a:endParaRPr lang="en-US" sz="1050" dirty="0"/>
          </a:p>
        </p:txBody>
      </p:sp>
      <p:sp>
        <p:nvSpPr>
          <p:cNvPr id="5" name="Shape 3"/>
          <p:cNvSpPr/>
          <p:nvPr/>
        </p:nvSpPr>
        <p:spPr>
          <a:xfrm>
            <a:off x="411480" y="868680"/>
            <a:ext cx="8321040" cy="22860"/>
          </a:xfrm>
          <a:prstGeom prst="rect">
            <a:avLst/>
          </a:prstGeom>
          <a:solidFill>
            <a:srgbClr val="2D3561"/>
          </a:solidFill>
          <a:ln w="12700">
            <a:solidFill>
              <a:srgbClr val="2D3561"/>
            </a:solidFill>
            <a:prstDash val="solid"/>
          </a:ln>
        </p:spPr>
      </p:sp>
      <p:sp>
        <p:nvSpPr>
          <p:cNvPr id="6" name="Shape 4"/>
          <p:cNvSpPr/>
          <p:nvPr/>
        </p:nvSpPr>
        <p:spPr>
          <a:xfrm>
            <a:off x="274320" y="987552"/>
            <a:ext cx="8595360" cy="548640"/>
          </a:xfrm>
          <a:prstGeom prst="rect">
            <a:avLst/>
          </a:prstGeom>
          <a:solidFill>
            <a:srgbClr val="2D3561"/>
          </a:solidFill>
          <a:ln w="10160">
            <a:solidFill>
              <a:srgbClr val="E84393"/>
            </a:solidFill>
            <a:prstDash val="solid"/>
          </a:ln>
        </p:spPr>
      </p:sp>
      <p:sp>
        <p:nvSpPr>
          <p:cNvPr id="7" name="Text 5"/>
          <p:cNvSpPr/>
          <p:nvPr/>
        </p:nvSpPr>
        <p:spPr>
          <a:xfrm>
            <a:off x="365760" y="1088136"/>
            <a:ext cx="841248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ROE  =  </a:t>
            </a:r>
            <a:r>
              <a:rPr lang="en-US" sz="1200" b="1" dirty="0">
                <a:solidFill>
                  <a:srgbClr val="E84393"/>
                </a:solidFill>
                <a:latin typeface="Calibri" pitchFamily="34" charset="0"/>
                <a:ea typeface="Calibri" pitchFamily="34" charset="-122"/>
                <a:cs typeface="Calibri" pitchFamily="34" charset="-120"/>
              </a:rPr>
              <a:t>Net Profit Margin</a:t>
            </a:r>
            <a:r>
              <a:rPr lang="en-US" sz="1200" dirty="0">
                <a:solidFill>
                  <a:srgbClr val="A0AEC0"/>
                </a:solidFill>
                <a:latin typeface="Calibri" pitchFamily="34" charset="0"/>
                <a:ea typeface="Calibri" pitchFamily="34" charset="-122"/>
                <a:cs typeface="Calibri" pitchFamily="34" charset="-120"/>
              </a:rPr>
              <a:t>  ×  </a:t>
            </a:r>
            <a:r>
              <a:rPr lang="en-US" sz="1200" b="1" dirty="0">
                <a:solidFill>
                  <a:srgbClr val="00C896"/>
                </a:solidFill>
                <a:latin typeface="Calibri" pitchFamily="34" charset="0"/>
                <a:ea typeface="Calibri" pitchFamily="34" charset="-122"/>
                <a:cs typeface="Calibri" pitchFamily="34" charset="-120"/>
              </a:rPr>
              <a:t>Asset Turnover</a:t>
            </a:r>
            <a:r>
              <a:rPr lang="en-US" sz="1200" dirty="0">
                <a:solidFill>
                  <a:srgbClr val="A0AEC0"/>
                </a:solidFill>
                <a:latin typeface="Calibri" pitchFamily="34" charset="0"/>
                <a:ea typeface="Calibri" pitchFamily="34" charset="-122"/>
                <a:cs typeface="Calibri" pitchFamily="34" charset="-120"/>
              </a:rPr>
              <a:t>  ×  </a:t>
            </a:r>
            <a:r>
              <a:rPr lang="en-US" sz="1200" b="1" dirty="0">
                <a:solidFill>
                  <a:srgbClr val="FACC15"/>
                </a:solidFill>
                <a:latin typeface="Calibri" pitchFamily="34" charset="0"/>
                <a:ea typeface="Calibri" pitchFamily="34" charset="-122"/>
                <a:cs typeface="Calibri" pitchFamily="34" charset="-120"/>
              </a:rPr>
              <a:t>Equity Multiplier</a:t>
            </a:r>
            <a:r>
              <a:rPr lang="en-US" sz="1200" i="1" dirty="0">
                <a:solidFill>
                  <a:srgbClr val="A0AEC0"/>
                </a:solidFill>
                <a:latin typeface="Calibri" pitchFamily="34" charset="0"/>
                <a:ea typeface="Calibri" pitchFamily="34" charset="-122"/>
                <a:cs typeface="Calibri" pitchFamily="34" charset="-120"/>
              </a:rPr>
              <a:t>          (How profitably?)  ×  (How efficiently?)  ×  (How leveraged?)</a:t>
            </a:r>
            <a:endParaRPr lang="en-US" sz="1200" dirty="0"/>
          </a:p>
        </p:txBody>
      </p:sp>
      <p:sp>
        <p:nvSpPr>
          <p:cNvPr id="8" name="Shape 6"/>
          <p:cNvSpPr/>
          <p:nvPr/>
        </p:nvSpPr>
        <p:spPr>
          <a:xfrm>
            <a:off x="274320" y="1691640"/>
            <a:ext cx="2724912" cy="2011680"/>
          </a:xfrm>
          <a:prstGeom prst="rect">
            <a:avLst/>
          </a:prstGeom>
          <a:solidFill>
            <a:srgbClr val="2D3561"/>
          </a:solidFill>
          <a:ln w="15240">
            <a:solidFill>
              <a:srgbClr val="E84393"/>
            </a:solidFill>
            <a:prstDash val="solid"/>
          </a:ln>
          <a:effectLst>
            <a:outerShdw blurRad="101600" dist="38100" dir="8100000" algn="bl" rotWithShape="0">
              <a:srgbClr val="000000">
                <a:alpha val="25000"/>
              </a:srgbClr>
            </a:outerShdw>
          </a:effectLst>
        </p:spPr>
      </p:sp>
      <p:sp>
        <p:nvSpPr>
          <p:cNvPr id="9" name="Shape 7"/>
          <p:cNvSpPr/>
          <p:nvPr/>
        </p:nvSpPr>
        <p:spPr>
          <a:xfrm>
            <a:off x="274320" y="1691640"/>
            <a:ext cx="2724912" cy="64008"/>
          </a:xfrm>
          <a:prstGeom prst="rect">
            <a:avLst/>
          </a:prstGeom>
          <a:solidFill>
            <a:srgbClr val="E84393"/>
          </a:solidFill>
          <a:ln w="12700">
            <a:solidFill>
              <a:srgbClr val="E84393"/>
            </a:solidFill>
            <a:prstDash val="solid"/>
          </a:ln>
        </p:spPr>
      </p:sp>
      <p:sp>
        <p:nvSpPr>
          <p:cNvPr id="10" name="Text 8"/>
          <p:cNvSpPr/>
          <p:nvPr/>
        </p:nvSpPr>
        <p:spPr>
          <a:xfrm>
            <a:off x="365760" y="1801368"/>
            <a:ext cx="2542032" cy="256032"/>
          </a:xfrm>
          <a:prstGeom prst="rect">
            <a:avLst/>
          </a:prstGeom>
          <a:noFill/>
          <a:ln/>
        </p:spPr>
        <p:txBody>
          <a:bodyPr wrap="square" rtlCol="0" anchor="ctr"/>
          <a:lstStyle/>
          <a:p>
            <a:pPr marL="0" indent="0">
              <a:buNone/>
            </a:pPr>
            <a:r>
              <a:rPr lang="en-US" sz="1100" b="1" dirty="0">
                <a:solidFill>
                  <a:srgbClr val="E84393"/>
                </a:solidFill>
                <a:latin typeface="Calibri" pitchFamily="34" charset="0"/>
                <a:ea typeface="Calibri" pitchFamily="34" charset="-122"/>
                <a:cs typeface="Calibri" pitchFamily="34" charset="-120"/>
              </a:rPr>
              <a:t>Net Profit Margin</a:t>
            </a:r>
            <a:endParaRPr lang="en-US" sz="1100" dirty="0"/>
          </a:p>
        </p:txBody>
      </p:sp>
      <p:sp>
        <p:nvSpPr>
          <p:cNvPr id="11" name="Text 9"/>
          <p:cNvSpPr/>
          <p:nvPr/>
        </p:nvSpPr>
        <p:spPr>
          <a:xfrm>
            <a:off x="365760" y="2066544"/>
            <a:ext cx="2542032" cy="201168"/>
          </a:xfrm>
          <a:prstGeom prst="rect">
            <a:avLst/>
          </a:prstGeom>
          <a:noFill/>
          <a:ln/>
        </p:spPr>
        <p:txBody>
          <a:bodyPr wrap="square" rtlCol="0" anchor="ctr"/>
          <a:lstStyle/>
          <a:p>
            <a:pPr marL="0" indent="0">
              <a:buNone/>
            </a:pPr>
            <a:r>
              <a:rPr lang="en-US" sz="780" i="1" dirty="0">
                <a:solidFill>
                  <a:srgbClr val="FACC15"/>
                </a:solidFill>
                <a:latin typeface="Calibri" pitchFamily="34" charset="0"/>
                <a:ea typeface="Calibri" pitchFamily="34" charset="-122"/>
                <a:cs typeface="Calibri" pitchFamily="34" charset="-120"/>
              </a:rPr>
              <a:t>Profitability — Are sales turning into profit?</a:t>
            </a:r>
            <a:endParaRPr lang="en-US" sz="780" dirty="0"/>
          </a:p>
        </p:txBody>
      </p:sp>
      <p:sp>
        <p:nvSpPr>
          <p:cNvPr id="12" name="Text 10"/>
          <p:cNvSpPr/>
          <p:nvPr/>
        </p:nvSpPr>
        <p:spPr>
          <a:xfrm>
            <a:off x="365760" y="2267712"/>
            <a:ext cx="2542032" cy="164592"/>
          </a:xfrm>
          <a:prstGeom prst="rect">
            <a:avLst/>
          </a:prstGeom>
          <a:noFill/>
          <a:ln/>
        </p:spPr>
        <p:txBody>
          <a:bodyPr wrap="square" rtlCol="0" anchor="ctr"/>
          <a:lstStyle/>
          <a:p>
            <a:pPr marL="0" indent="0">
              <a:buNone/>
            </a:pPr>
            <a:r>
              <a:rPr lang="en-US" sz="700" i="1" dirty="0">
                <a:solidFill>
                  <a:srgbClr val="A0AEC0"/>
                </a:solidFill>
                <a:latin typeface="Calibri" pitchFamily="34" charset="0"/>
                <a:ea typeface="Calibri" pitchFamily="34" charset="-122"/>
                <a:cs typeface="Calibri" pitchFamily="34" charset="-120"/>
              </a:rPr>
              <a:t>Formula: PAT / Revenue</a:t>
            </a:r>
            <a:endParaRPr lang="en-US" sz="700" dirty="0"/>
          </a:p>
        </p:txBody>
      </p:sp>
      <p:sp>
        <p:nvSpPr>
          <p:cNvPr id="13" name="Text 11"/>
          <p:cNvSpPr/>
          <p:nvPr/>
        </p:nvSpPr>
        <p:spPr>
          <a:xfrm>
            <a:off x="365760" y="2432304"/>
            <a:ext cx="2542032" cy="201168"/>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FY25: 2.60% ▼   </a:t>
            </a:r>
            <a:r>
              <a:rPr lang="en-US" sz="900" dirty="0">
                <a:solidFill>
                  <a:srgbClr val="A0AEC0"/>
                </a:solidFill>
                <a:latin typeface="Calibri" pitchFamily="34" charset="0"/>
                <a:ea typeface="Calibri" pitchFamily="34" charset="-122"/>
                <a:cs typeface="Calibri" pitchFamily="34" charset="-120"/>
              </a:rPr>
              <a:t>FY24: 2.90%</a:t>
            </a:r>
            <a:endParaRPr lang="en-US" sz="900" dirty="0"/>
          </a:p>
        </p:txBody>
      </p:sp>
      <p:sp>
        <p:nvSpPr>
          <p:cNvPr id="14" name="Text 12"/>
          <p:cNvSpPr/>
          <p:nvPr/>
        </p:nvSpPr>
        <p:spPr>
          <a:xfrm>
            <a:off x="365760" y="2651760"/>
            <a:ext cx="2542032" cy="960120"/>
          </a:xfrm>
          <a:prstGeom prst="rect">
            <a:avLst/>
          </a:prstGeom>
          <a:noFill/>
          <a:ln/>
        </p:spPr>
        <p:txBody>
          <a:bodyPr wrap="square" rtlCol="0" anchor="ctr"/>
          <a:lstStyle/>
          <a:p>
            <a:pPr marL="0" indent="0">
              <a:buNone/>
            </a:pPr>
            <a:r>
              <a:rPr lang="en-US" sz="780" dirty="0">
                <a:solidFill>
                  <a:srgbClr val="A0AEC0"/>
                </a:solidFill>
                <a:latin typeface="Calibri" pitchFamily="34" charset="0"/>
                <a:ea typeface="Calibri" pitchFamily="34" charset="-122"/>
                <a:cs typeface="Calibri" pitchFamily="34" charset="-120"/>
              </a:rPr>
              <a:t>Revenue grew faster than profits (67% vs 50%), so the margin % dipped slightly. But absolute profit rose by ₹176 Cr — the business is more profitable in cash terms. As newer segments (Blinkit, Hyperpure) mature, this margin will expand.</a:t>
            </a:r>
            <a:endParaRPr lang="en-US" sz="780" dirty="0"/>
          </a:p>
        </p:txBody>
      </p:sp>
      <p:sp>
        <p:nvSpPr>
          <p:cNvPr id="15" name="Shape 13"/>
          <p:cNvSpPr/>
          <p:nvPr/>
        </p:nvSpPr>
        <p:spPr>
          <a:xfrm>
            <a:off x="3154680" y="1691640"/>
            <a:ext cx="2724912" cy="2011680"/>
          </a:xfrm>
          <a:prstGeom prst="rect">
            <a:avLst/>
          </a:prstGeom>
          <a:solidFill>
            <a:srgbClr val="2D3561"/>
          </a:solidFill>
          <a:ln w="15240">
            <a:solidFill>
              <a:srgbClr val="00C896"/>
            </a:solidFill>
            <a:prstDash val="solid"/>
          </a:ln>
          <a:effectLst>
            <a:outerShdw blurRad="101600" dist="38100" dir="8100000" algn="bl" rotWithShape="0">
              <a:srgbClr val="000000">
                <a:alpha val="25000"/>
              </a:srgbClr>
            </a:outerShdw>
          </a:effectLst>
        </p:spPr>
      </p:sp>
      <p:sp>
        <p:nvSpPr>
          <p:cNvPr id="16" name="Shape 14"/>
          <p:cNvSpPr/>
          <p:nvPr/>
        </p:nvSpPr>
        <p:spPr>
          <a:xfrm>
            <a:off x="3154680" y="1691640"/>
            <a:ext cx="2724912" cy="64008"/>
          </a:xfrm>
          <a:prstGeom prst="rect">
            <a:avLst/>
          </a:prstGeom>
          <a:solidFill>
            <a:srgbClr val="00C896"/>
          </a:solidFill>
          <a:ln w="12700">
            <a:solidFill>
              <a:srgbClr val="00C896"/>
            </a:solidFill>
            <a:prstDash val="solid"/>
          </a:ln>
        </p:spPr>
      </p:sp>
      <p:sp>
        <p:nvSpPr>
          <p:cNvPr id="17" name="Text 15"/>
          <p:cNvSpPr/>
          <p:nvPr/>
        </p:nvSpPr>
        <p:spPr>
          <a:xfrm>
            <a:off x="3246120" y="1801368"/>
            <a:ext cx="2542032" cy="256032"/>
          </a:xfrm>
          <a:prstGeom prst="rect">
            <a:avLst/>
          </a:prstGeom>
          <a:noFill/>
          <a:ln/>
        </p:spPr>
        <p:txBody>
          <a:bodyPr wrap="square" rtlCol="0" anchor="ctr"/>
          <a:lstStyle/>
          <a:p>
            <a:pPr marL="0" indent="0">
              <a:buNone/>
            </a:pPr>
            <a:r>
              <a:rPr lang="en-US" sz="1100" b="1" dirty="0">
                <a:solidFill>
                  <a:srgbClr val="00C896"/>
                </a:solidFill>
                <a:latin typeface="Calibri" pitchFamily="34" charset="0"/>
                <a:ea typeface="Calibri" pitchFamily="34" charset="-122"/>
                <a:cs typeface="Calibri" pitchFamily="34" charset="-120"/>
              </a:rPr>
              <a:t>Asset Turnover</a:t>
            </a:r>
            <a:endParaRPr lang="en-US" sz="1100" dirty="0"/>
          </a:p>
        </p:txBody>
      </p:sp>
      <p:sp>
        <p:nvSpPr>
          <p:cNvPr id="18" name="Text 16"/>
          <p:cNvSpPr/>
          <p:nvPr/>
        </p:nvSpPr>
        <p:spPr>
          <a:xfrm>
            <a:off x="3246120" y="2066544"/>
            <a:ext cx="2542032" cy="201168"/>
          </a:xfrm>
          <a:prstGeom prst="rect">
            <a:avLst/>
          </a:prstGeom>
          <a:noFill/>
          <a:ln/>
        </p:spPr>
        <p:txBody>
          <a:bodyPr wrap="square" rtlCol="0" anchor="ctr"/>
          <a:lstStyle/>
          <a:p>
            <a:pPr marL="0" indent="0">
              <a:buNone/>
            </a:pPr>
            <a:r>
              <a:rPr lang="en-US" sz="780" i="1" dirty="0">
                <a:solidFill>
                  <a:srgbClr val="FACC15"/>
                </a:solidFill>
                <a:latin typeface="Calibri" pitchFamily="34" charset="0"/>
                <a:ea typeface="Calibri" pitchFamily="34" charset="-122"/>
                <a:cs typeface="Calibri" pitchFamily="34" charset="-120"/>
              </a:rPr>
              <a:t>Efficiency — Are assets being used well?</a:t>
            </a:r>
            <a:endParaRPr lang="en-US" sz="780" dirty="0"/>
          </a:p>
        </p:txBody>
      </p:sp>
      <p:sp>
        <p:nvSpPr>
          <p:cNvPr id="19" name="Text 17"/>
          <p:cNvSpPr/>
          <p:nvPr/>
        </p:nvSpPr>
        <p:spPr>
          <a:xfrm>
            <a:off x="3246120" y="2267712"/>
            <a:ext cx="2542032" cy="164592"/>
          </a:xfrm>
          <a:prstGeom prst="rect">
            <a:avLst/>
          </a:prstGeom>
          <a:noFill/>
          <a:ln/>
        </p:spPr>
        <p:txBody>
          <a:bodyPr wrap="square" rtlCol="0" anchor="ctr"/>
          <a:lstStyle/>
          <a:p>
            <a:pPr marL="0" indent="0">
              <a:buNone/>
            </a:pPr>
            <a:r>
              <a:rPr lang="en-US" sz="700" i="1" dirty="0">
                <a:solidFill>
                  <a:srgbClr val="A0AEC0"/>
                </a:solidFill>
                <a:latin typeface="Calibri" pitchFamily="34" charset="0"/>
                <a:ea typeface="Calibri" pitchFamily="34" charset="-122"/>
                <a:cs typeface="Calibri" pitchFamily="34" charset="-120"/>
              </a:rPr>
              <a:t>Formula: Revenue / Avg. Assets</a:t>
            </a:r>
            <a:endParaRPr lang="en-US" sz="700" dirty="0"/>
          </a:p>
        </p:txBody>
      </p:sp>
      <p:sp>
        <p:nvSpPr>
          <p:cNvPr id="20" name="Text 18"/>
          <p:cNvSpPr/>
          <p:nvPr/>
        </p:nvSpPr>
        <p:spPr>
          <a:xfrm>
            <a:off x="3246120" y="2432304"/>
            <a:ext cx="2542032" cy="201168"/>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FY25: 0.69x ▲   </a:t>
            </a:r>
            <a:r>
              <a:rPr lang="en-US" sz="900" dirty="0">
                <a:solidFill>
                  <a:srgbClr val="A0AEC0"/>
                </a:solidFill>
                <a:latin typeface="Calibri" pitchFamily="34" charset="0"/>
                <a:ea typeface="Calibri" pitchFamily="34" charset="-122"/>
                <a:cs typeface="Calibri" pitchFamily="34" charset="-120"/>
              </a:rPr>
              <a:t>FY24: 0.54x</a:t>
            </a:r>
            <a:endParaRPr lang="en-US" sz="900" dirty="0"/>
          </a:p>
        </p:txBody>
      </p:sp>
      <p:sp>
        <p:nvSpPr>
          <p:cNvPr id="21" name="Text 19"/>
          <p:cNvSpPr/>
          <p:nvPr/>
        </p:nvSpPr>
        <p:spPr>
          <a:xfrm>
            <a:off x="3246120" y="2651760"/>
            <a:ext cx="2542032" cy="960120"/>
          </a:xfrm>
          <a:prstGeom prst="rect">
            <a:avLst/>
          </a:prstGeom>
          <a:noFill/>
          <a:ln/>
        </p:spPr>
        <p:txBody>
          <a:bodyPr wrap="square" rtlCol="0" anchor="ctr"/>
          <a:lstStyle/>
          <a:p>
            <a:pPr marL="0" indent="0">
              <a:buNone/>
            </a:pPr>
            <a:r>
              <a:rPr lang="en-US" sz="780" dirty="0">
                <a:solidFill>
                  <a:srgbClr val="A0AEC0"/>
                </a:solidFill>
                <a:latin typeface="Calibri" pitchFamily="34" charset="0"/>
                <a:ea typeface="Calibri" pitchFamily="34" charset="-122"/>
                <a:cs typeface="Calibri" pitchFamily="34" charset="-120"/>
              </a:rPr>
              <a:t>The star performer! Revenue grew 67% while total assets grew only 26%, meaning the company is extracting more value from the same base. This driver is the primary reason ROE improved in FY25.</a:t>
            </a:r>
            <a:endParaRPr lang="en-US" sz="780" dirty="0"/>
          </a:p>
        </p:txBody>
      </p:sp>
      <p:sp>
        <p:nvSpPr>
          <p:cNvPr id="22" name="Shape 20"/>
          <p:cNvSpPr/>
          <p:nvPr/>
        </p:nvSpPr>
        <p:spPr>
          <a:xfrm>
            <a:off x="6035040" y="1691640"/>
            <a:ext cx="2724912" cy="2011680"/>
          </a:xfrm>
          <a:prstGeom prst="rect">
            <a:avLst/>
          </a:prstGeom>
          <a:solidFill>
            <a:srgbClr val="2D3561"/>
          </a:solidFill>
          <a:ln w="15240">
            <a:solidFill>
              <a:srgbClr val="FACC15"/>
            </a:solidFill>
            <a:prstDash val="solid"/>
          </a:ln>
          <a:effectLst>
            <a:outerShdw blurRad="101600" dist="38100" dir="8100000" algn="bl" rotWithShape="0">
              <a:srgbClr val="000000">
                <a:alpha val="25000"/>
              </a:srgbClr>
            </a:outerShdw>
          </a:effectLst>
        </p:spPr>
      </p:sp>
      <p:sp>
        <p:nvSpPr>
          <p:cNvPr id="23" name="Shape 21"/>
          <p:cNvSpPr/>
          <p:nvPr/>
        </p:nvSpPr>
        <p:spPr>
          <a:xfrm>
            <a:off x="6035040" y="1691640"/>
            <a:ext cx="2724912" cy="64008"/>
          </a:xfrm>
          <a:prstGeom prst="rect">
            <a:avLst/>
          </a:prstGeom>
          <a:solidFill>
            <a:srgbClr val="FACC15"/>
          </a:solidFill>
          <a:ln w="12700">
            <a:solidFill>
              <a:srgbClr val="FACC15"/>
            </a:solidFill>
            <a:prstDash val="solid"/>
          </a:ln>
        </p:spPr>
      </p:sp>
      <p:sp>
        <p:nvSpPr>
          <p:cNvPr id="24" name="Text 22"/>
          <p:cNvSpPr/>
          <p:nvPr/>
        </p:nvSpPr>
        <p:spPr>
          <a:xfrm>
            <a:off x="6126480" y="1801368"/>
            <a:ext cx="2542032" cy="256032"/>
          </a:xfrm>
          <a:prstGeom prst="rect">
            <a:avLst/>
          </a:prstGeom>
          <a:noFill/>
          <a:ln/>
        </p:spPr>
        <p:txBody>
          <a:bodyPr wrap="square" rtlCol="0" anchor="ctr"/>
          <a:lstStyle/>
          <a:p>
            <a:pPr marL="0" indent="0">
              <a:buNone/>
            </a:pPr>
            <a:r>
              <a:rPr lang="en-US" sz="1100" b="1" dirty="0">
                <a:solidFill>
                  <a:srgbClr val="FACC15"/>
                </a:solidFill>
                <a:latin typeface="Calibri" pitchFamily="34" charset="0"/>
                <a:ea typeface="Calibri" pitchFamily="34" charset="-122"/>
                <a:cs typeface="Calibri" pitchFamily="34" charset="-120"/>
              </a:rPr>
              <a:t>Equity Multiplier</a:t>
            </a:r>
            <a:endParaRPr lang="en-US" sz="1100" dirty="0"/>
          </a:p>
        </p:txBody>
      </p:sp>
      <p:sp>
        <p:nvSpPr>
          <p:cNvPr id="25" name="Text 23"/>
          <p:cNvSpPr/>
          <p:nvPr/>
        </p:nvSpPr>
        <p:spPr>
          <a:xfrm>
            <a:off x="6126480" y="2066544"/>
            <a:ext cx="2542032" cy="201168"/>
          </a:xfrm>
          <a:prstGeom prst="rect">
            <a:avLst/>
          </a:prstGeom>
          <a:noFill/>
          <a:ln/>
        </p:spPr>
        <p:txBody>
          <a:bodyPr wrap="square" rtlCol="0" anchor="ctr"/>
          <a:lstStyle/>
          <a:p>
            <a:pPr marL="0" indent="0">
              <a:buNone/>
            </a:pPr>
            <a:r>
              <a:rPr lang="en-US" sz="780" i="1" dirty="0">
                <a:solidFill>
                  <a:srgbClr val="FACC15"/>
                </a:solidFill>
                <a:latin typeface="Calibri" pitchFamily="34" charset="0"/>
                <a:ea typeface="Calibri" pitchFamily="34" charset="-122"/>
                <a:cs typeface="Calibri" pitchFamily="34" charset="-120"/>
              </a:rPr>
              <a:t>Leverage — How much debt is being used?</a:t>
            </a:r>
            <a:endParaRPr lang="en-US" sz="780" dirty="0"/>
          </a:p>
        </p:txBody>
      </p:sp>
      <p:sp>
        <p:nvSpPr>
          <p:cNvPr id="26" name="Text 24"/>
          <p:cNvSpPr/>
          <p:nvPr/>
        </p:nvSpPr>
        <p:spPr>
          <a:xfrm>
            <a:off x="6126480" y="2267712"/>
            <a:ext cx="2542032" cy="164592"/>
          </a:xfrm>
          <a:prstGeom prst="rect">
            <a:avLst/>
          </a:prstGeom>
          <a:noFill/>
          <a:ln/>
        </p:spPr>
        <p:txBody>
          <a:bodyPr wrap="square" rtlCol="0" anchor="ctr"/>
          <a:lstStyle/>
          <a:p>
            <a:pPr marL="0" indent="0">
              <a:buNone/>
            </a:pPr>
            <a:r>
              <a:rPr lang="en-US" sz="700" i="1" dirty="0">
                <a:solidFill>
                  <a:srgbClr val="A0AEC0"/>
                </a:solidFill>
                <a:latin typeface="Calibri" pitchFamily="34" charset="0"/>
                <a:ea typeface="Calibri" pitchFamily="34" charset="-122"/>
                <a:cs typeface="Calibri" pitchFamily="34" charset="-120"/>
              </a:rPr>
              <a:t>Formula: Avg. Assets / Avg. Equity</a:t>
            </a:r>
            <a:endParaRPr lang="en-US" sz="700" dirty="0"/>
          </a:p>
        </p:txBody>
      </p:sp>
      <p:sp>
        <p:nvSpPr>
          <p:cNvPr id="27" name="Text 25"/>
          <p:cNvSpPr/>
          <p:nvPr/>
        </p:nvSpPr>
        <p:spPr>
          <a:xfrm>
            <a:off x="6126480" y="2432304"/>
            <a:ext cx="2542032" cy="201168"/>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FY25: 1.16x ▲   </a:t>
            </a:r>
            <a:r>
              <a:rPr lang="en-US" sz="900" dirty="0">
                <a:solidFill>
                  <a:srgbClr val="A0AEC0"/>
                </a:solidFill>
                <a:latin typeface="Calibri" pitchFamily="34" charset="0"/>
                <a:ea typeface="Calibri" pitchFamily="34" charset="-122"/>
                <a:cs typeface="Calibri" pitchFamily="34" charset="-120"/>
              </a:rPr>
              <a:t>FY24: 1.10x</a:t>
            </a:r>
            <a:endParaRPr lang="en-US" sz="900" dirty="0"/>
          </a:p>
        </p:txBody>
      </p:sp>
      <p:sp>
        <p:nvSpPr>
          <p:cNvPr id="28" name="Text 26"/>
          <p:cNvSpPr/>
          <p:nvPr/>
        </p:nvSpPr>
        <p:spPr>
          <a:xfrm>
            <a:off x="6126480" y="2651760"/>
            <a:ext cx="2542032" cy="960120"/>
          </a:xfrm>
          <a:prstGeom prst="rect">
            <a:avLst/>
          </a:prstGeom>
          <a:noFill/>
          <a:ln/>
        </p:spPr>
        <p:txBody>
          <a:bodyPr wrap="square" rtlCol="0" anchor="ctr"/>
          <a:lstStyle/>
          <a:p>
            <a:pPr marL="0" indent="0">
              <a:buNone/>
            </a:pPr>
            <a:r>
              <a:rPr lang="en-US" sz="780" dirty="0">
                <a:solidFill>
                  <a:srgbClr val="A0AEC0"/>
                </a:solidFill>
                <a:latin typeface="Calibri" pitchFamily="34" charset="0"/>
                <a:ea typeface="Calibri" pitchFamily="34" charset="-122"/>
                <a:cs typeface="Calibri" pitchFamily="34" charset="-120"/>
              </a:rPr>
              <a:t>At just 1.16x, the company uses almost no leverage — 85% equity-funded. The tiny rise is from Blinkit's dark store lease obligations. Low leverage is intentional: the company prefers equity capital, which reduces financial risk.</a:t>
            </a:r>
            <a:endParaRPr lang="en-US" sz="780" dirty="0"/>
          </a:p>
        </p:txBody>
      </p:sp>
      <p:sp>
        <p:nvSpPr>
          <p:cNvPr id="29" name="Shape 27"/>
          <p:cNvSpPr/>
          <p:nvPr/>
        </p:nvSpPr>
        <p:spPr>
          <a:xfrm>
            <a:off x="274320" y="3840480"/>
            <a:ext cx="8595360" cy="822960"/>
          </a:xfrm>
          <a:prstGeom prst="rect">
            <a:avLst/>
          </a:prstGeom>
          <a:solidFill>
            <a:srgbClr val="1E2957"/>
          </a:solidFill>
          <a:ln w="19050">
            <a:solidFill>
              <a:srgbClr val="00C896"/>
            </a:solidFill>
            <a:prstDash val="solid"/>
          </a:ln>
          <a:effectLst>
            <a:outerShdw blurRad="101600" dist="38100" dir="8100000" algn="bl" rotWithShape="0">
              <a:srgbClr val="000000">
                <a:alpha val="25000"/>
              </a:srgbClr>
            </a:outerShdw>
          </a:effectLst>
        </p:spPr>
      </p:sp>
      <p:sp>
        <p:nvSpPr>
          <p:cNvPr id="30" name="Text 28"/>
          <p:cNvSpPr/>
          <p:nvPr/>
        </p:nvSpPr>
        <p:spPr>
          <a:xfrm>
            <a:off x="457200" y="3904488"/>
            <a:ext cx="4114800" cy="256032"/>
          </a:xfrm>
          <a:prstGeom prst="rect">
            <a:avLst/>
          </a:prstGeom>
          <a:noFill/>
          <a:ln/>
        </p:spPr>
        <p:txBody>
          <a:bodyPr wrap="square" rtlCol="0" anchor="ctr"/>
          <a:lstStyle/>
          <a:p>
            <a:pPr marL="0" indent="0">
              <a:buNone/>
            </a:pPr>
            <a:r>
              <a:rPr lang="en-US" sz="1100" b="1" dirty="0">
                <a:solidFill>
                  <a:srgbClr val="00C896"/>
                </a:solidFill>
                <a:latin typeface="Calibri" pitchFamily="34" charset="0"/>
                <a:ea typeface="Calibri" pitchFamily="34" charset="-122"/>
                <a:cs typeface="Calibri" pitchFamily="34" charset="-120"/>
              </a:rPr>
              <a:t>📊 Combined DuPont ROE Result</a:t>
            </a:r>
            <a:endParaRPr lang="en-US" sz="1100" dirty="0"/>
          </a:p>
        </p:txBody>
      </p:sp>
      <p:sp>
        <p:nvSpPr>
          <p:cNvPr id="31" name="Text 29"/>
          <p:cNvSpPr/>
          <p:nvPr/>
        </p:nvSpPr>
        <p:spPr>
          <a:xfrm>
            <a:off x="457200" y="4160520"/>
            <a:ext cx="8321040" cy="292608"/>
          </a:xfrm>
          <a:prstGeom prst="rect">
            <a:avLst/>
          </a:prstGeom>
          <a:noFill/>
          <a:ln/>
        </p:spPr>
        <p:txBody>
          <a:bodyPr wrap="square" rtlCol="0" anchor="ctr"/>
          <a:lstStyle/>
          <a:p>
            <a:pPr marL="0" indent="0">
              <a:buNone/>
            </a:pPr>
            <a:r>
              <a:rPr lang="en-US" sz="1000" dirty="0">
                <a:solidFill>
                  <a:srgbClr val="A0AEC0"/>
                </a:solidFill>
                <a:latin typeface="Calibri" pitchFamily="34" charset="0"/>
                <a:ea typeface="Calibri" pitchFamily="34" charset="-122"/>
                <a:cs typeface="Calibri" pitchFamily="34" charset="-120"/>
              </a:rPr>
              <a:t>FY2025:  2.60% × 0.69x × 1.16x  =  </a:t>
            </a:r>
            <a:r>
              <a:rPr lang="en-US" sz="1400" b="1" dirty="0">
                <a:solidFill>
                  <a:srgbClr val="00C896"/>
                </a:solidFill>
                <a:latin typeface="Calibri" pitchFamily="34" charset="0"/>
                <a:ea typeface="Calibri" pitchFamily="34" charset="-122"/>
                <a:cs typeface="Calibri" pitchFamily="34" charset="-120"/>
              </a:rPr>
              <a:t>2.08%</a:t>
            </a:r>
            <a:r>
              <a:rPr lang="en-US" sz="1000" dirty="0">
                <a:solidFill>
                  <a:srgbClr val="A0AEC0"/>
                </a:solidFill>
                <a:latin typeface="Calibri" pitchFamily="34" charset="0"/>
                <a:ea typeface="Calibri" pitchFamily="34" charset="-122"/>
                <a:cs typeface="Calibri" pitchFamily="34" charset="-120"/>
              </a:rPr>
              <a:t>        FY2024:  2.90% × 0.54x × 1.10x  =  </a:t>
            </a:r>
            <a:r>
              <a:rPr lang="en-US" sz="1400" b="1" dirty="0">
                <a:solidFill>
                  <a:srgbClr val="FACC15"/>
                </a:solidFill>
                <a:latin typeface="Calibri" pitchFamily="34" charset="0"/>
                <a:ea typeface="Calibri" pitchFamily="34" charset="-122"/>
                <a:cs typeface="Calibri" pitchFamily="34" charset="-120"/>
              </a:rPr>
              <a:t>1.72%</a:t>
            </a:r>
            <a:endParaRPr lang="en-US" sz="1000" dirty="0"/>
          </a:p>
        </p:txBody>
      </p:sp>
      <p:sp>
        <p:nvSpPr>
          <p:cNvPr id="32" name="Shape 30"/>
          <p:cNvSpPr/>
          <p:nvPr/>
        </p:nvSpPr>
        <p:spPr>
          <a:xfrm>
            <a:off x="274320" y="4754880"/>
            <a:ext cx="8595360" cy="301752"/>
          </a:xfrm>
          <a:prstGeom prst="rect">
            <a:avLst/>
          </a:prstGeom>
          <a:solidFill>
            <a:srgbClr val="1A1F36"/>
          </a:solidFill>
          <a:ln w="6350">
            <a:solidFill>
              <a:srgbClr val="2D3561"/>
            </a:solidFill>
            <a:prstDash val="solid"/>
          </a:ln>
        </p:spPr>
      </p:sp>
      <p:sp>
        <p:nvSpPr>
          <p:cNvPr id="33" name="Text 31"/>
          <p:cNvSpPr/>
          <p:nvPr/>
        </p:nvSpPr>
        <p:spPr>
          <a:xfrm>
            <a:off x="411480" y="4782312"/>
            <a:ext cx="8321040" cy="237744"/>
          </a:xfrm>
          <a:prstGeom prst="rect">
            <a:avLst/>
          </a:prstGeom>
          <a:noFill/>
          <a:ln/>
        </p:spPr>
        <p:txBody>
          <a:bodyPr wrap="square" rtlCol="0" anchor="ctr"/>
          <a:lstStyle/>
          <a:p>
            <a:pPr marL="0" indent="0">
              <a:buNone/>
            </a:pPr>
            <a:r>
              <a:rPr lang="en-US" sz="850" b="1" i="1" dirty="0">
                <a:solidFill>
                  <a:srgbClr val="FACC15"/>
                </a:solidFill>
                <a:latin typeface="Calibri" pitchFamily="34" charset="0"/>
                <a:ea typeface="Calibri" pitchFamily="34" charset="-122"/>
                <a:cs typeface="Calibri" pitchFamily="34" charset="-120"/>
              </a:rPr>
              <a:t>💡 Key Insight: ROE improved from 1.72% → 2.08%. The improvement came entirely from better efficiency (Asset Turnover ▲28%) — not from risky leverage or accounting tricks. This is high-quality, sustainable growth.</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F36"/>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84393"/>
          </a:solidFill>
          <a:ln w="12700">
            <a:solidFill>
              <a:srgbClr val="E84393"/>
            </a:solidFill>
            <a:prstDash val="solid"/>
          </a:ln>
        </p:spPr>
      </p:sp>
      <p:sp>
        <p:nvSpPr>
          <p:cNvPr id="3" name="Text 1"/>
          <p:cNvSpPr/>
          <p:nvPr/>
        </p:nvSpPr>
        <p:spPr>
          <a:xfrm>
            <a:off x="411480" y="109728"/>
            <a:ext cx="8321040" cy="47548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Performance Summary &amp; Conclusion</a:t>
            </a:r>
            <a:endParaRPr lang="en-US" sz="2000" dirty="0"/>
          </a:p>
        </p:txBody>
      </p:sp>
      <p:sp>
        <p:nvSpPr>
          <p:cNvPr id="4" name="Text 2"/>
          <p:cNvSpPr/>
          <p:nvPr/>
        </p:nvSpPr>
        <p:spPr>
          <a:xfrm>
            <a:off x="411480" y="566928"/>
            <a:ext cx="8321040" cy="256032"/>
          </a:xfrm>
          <a:prstGeom prst="rect">
            <a:avLst/>
          </a:prstGeom>
          <a:noFill/>
          <a:ln/>
        </p:spPr>
        <p:txBody>
          <a:bodyPr wrap="square" rtlCol="0" anchor="ctr"/>
          <a:lstStyle/>
          <a:p>
            <a:pPr marL="0" indent="0">
              <a:buNone/>
            </a:pPr>
            <a:r>
              <a:rPr lang="en-US" sz="1050" dirty="0">
                <a:solidFill>
                  <a:srgbClr val="A0AEC0"/>
                </a:solidFill>
                <a:latin typeface="Calibri" pitchFamily="34" charset="0"/>
                <a:ea typeface="Calibri" pitchFamily="34" charset="-122"/>
                <a:cs typeface="Calibri" pitchFamily="34" charset="-120"/>
              </a:rPr>
              <a:t>All 21 financial ratios at a glance — FY2024 vs FY2025  |  Eternal Limited</a:t>
            </a:r>
            <a:endParaRPr lang="en-US" sz="1050" dirty="0"/>
          </a:p>
        </p:txBody>
      </p:sp>
      <p:sp>
        <p:nvSpPr>
          <p:cNvPr id="5" name="Shape 3"/>
          <p:cNvSpPr/>
          <p:nvPr/>
        </p:nvSpPr>
        <p:spPr>
          <a:xfrm>
            <a:off x="411480" y="868680"/>
            <a:ext cx="8321040" cy="22860"/>
          </a:xfrm>
          <a:prstGeom prst="rect">
            <a:avLst/>
          </a:prstGeom>
          <a:solidFill>
            <a:srgbClr val="2D3561"/>
          </a:solidFill>
          <a:ln w="12700">
            <a:solidFill>
              <a:srgbClr val="2D3561"/>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56032" y="960120"/>
          <a:ext cx="5431536" cy="3703320"/>
        </p:xfrm>
        <a:graphic>
          <a:graphicData uri="http://schemas.openxmlformats.org/drawingml/2006/table">
            <a:tbl>
              <a:tblPr/>
              <a:tblGrid>
                <a:gridCol w="1554480">
                  <a:extLst>
                    <a:ext uri="{9D8B030D-6E8A-4147-A177-3AD203B41FA5}">
                      <a16:colId xmlns:a16="http://schemas.microsoft.com/office/drawing/2014/main" val="20000"/>
                    </a:ext>
                  </a:extLst>
                </a:gridCol>
                <a:gridCol w="749808">
                  <a:extLst>
                    <a:ext uri="{9D8B030D-6E8A-4147-A177-3AD203B41FA5}">
                      <a16:colId xmlns:a16="http://schemas.microsoft.com/office/drawing/2014/main" val="20001"/>
                    </a:ext>
                  </a:extLst>
                </a:gridCol>
                <a:gridCol w="749808">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196596">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Ratio</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A1F36"/>
                    </a:solidFill>
                  </a:tcPr>
                </a:tc>
                <a:tc>
                  <a:txBody>
                    <a:bodyPr/>
                    <a:lstStyle/>
                    <a:p>
                      <a:pPr marL="0" indent="0" algn="ctr">
                        <a:buNone/>
                      </a:pPr>
                      <a:r>
                        <a:rPr lang="en-US" sz="750" b="1" dirty="0">
                          <a:solidFill>
                            <a:srgbClr val="FFFFFF"/>
                          </a:solidFill>
                          <a:latin typeface="Calibri" pitchFamily="34" charset="0"/>
                          <a:ea typeface="Calibri" pitchFamily="34" charset="-122"/>
                          <a:cs typeface="Calibri" pitchFamily="34" charset="-120"/>
                        </a:rPr>
                        <a:t>FY24</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A1F36"/>
                    </a:solidFill>
                  </a:tcPr>
                </a:tc>
                <a:tc>
                  <a:txBody>
                    <a:bodyPr/>
                    <a:lstStyle/>
                    <a:p>
                      <a:pPr marL="0" indent="0" algn="ctr">
                        <a:buNone/>
                      </a:pPr>
                      <a:r>
                        <a:rPr lang="en-US" sz="750" b="1" dirty="0">
                          <a:solidFill>
                            <a:srgbClr val="FFFFFF"/>
                          </a:solidFill>
                          <a:latin typeface="Calibri" pitchFamily="34" charset="0"/>
                          <a:ea typeface="Calibri" pitchFamily="34" charset="-122"/>
                          <a:cs typeface="Calibri" pitchFamily="34" charset="-120"/>
                        </a:rPr>
                        <a:t>FY25</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A1F36"/>
                    </a:solidFill>
                  </a:tcPr>
                </a:tc>
                <a:tc>
                  <a:txBody>
                    <a:bodyPr/>
                    <a:lstStyle/>
                    <a:p>
                      <a:pPr marL="0" indent="0" algn="ctr">
                        <a:buNone/>
                      </a:pPr>
                      <a:r>
                        <a:rPr lang="en-US" sz="750" b="1" dirty="0">
                          <a:solidFill>
                            <a:srgbClr val="FFFFFF"/>
                          </a:solidFill>
                          <a:latin typeface="Calibri" pitchFamily="34" charset="0"/>
                          <a:ea typeface="Calibri" pitchFamily="34" charset="-122"/>
                          <a:cs typeface="Calibri" pitchFamily="34" charset="-120"/>
                        </a:rPr>
                        <a:t>Trend</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A1F36"/>
                    </a:solidFill>
                  </a:tcPr>
                </a:tc>
                <a:tc>
                  <a:txBody>
                    <a:bodyPr/>
                    <a:lstStyle/>
                    <a:p>
                      <a:pPr marL="0" indent="0" algn="ctr">
                        <a:buNone/>
                      </a:pPr>
                      <a:r>
                        <a:rPr lang="en-US" sz="750" b="1" dirty="0">
                          <a:solidFill>
                            <a:srgbClr val="FFFFFF"/>
                          </a:solidFill>
                          <a:latin typeface="Calibri" pitchFamily="34" charset="0"/>
                          <a:ea typeface="Calibri" pitchFamily="34" charset="-122"/>
                          <a:cs typeface="Calibri" pitchFamily="34" charset="-120"/>
                        </a:rPr>
                        <a:t>Ideal</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A1F36"/>
                    </a:solidFill>
                  </a:tcPr>
                </a:tc>
                <a:tc>
                  <a:txBody>
                    <a:bodyPr/>
                    <a:lstStyle/>
                    <a:p>
                      <a:pPr marL="0" indent="0" algn="ctr">
                        <a:buNone/>
                      </a:pPr>
                      <a:r>
                        <a:rPr lang="en-US" sz="750" b="1" dirty="0">
                          <a:solidFill>
                            <a:srgbClr val="FFFFFF"/>
                          </a:solidFill>
                          <a:latin typeface="Calibri" pitchFamily="34" charset="0"/>
                          <a:ea typeface="Calibri" pitchFamily="34" charset="-122"/>
                          <a:cs typeface="Calibri" pitchFamily="34" charset="-120"/>
                        </a:rPr>
                        <a:t>Status</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A1F36"/>
                    </a:solidFill>
                  </a:tcPr>
                </a:tc>
                <a:extLst>
                  <a:ext uri="{0D108BD9-81ED-4DB2-BD59-A6C34878D82A}">
                    <a16:rowId xmlns:a16="http://schemas.microsoft.com/office/drawing/2014/main" val="10000"/>
                  </a:ext>
                </a:extLst>
              </a:tr>
              <a:tr h="196596">
                <a:tc gridSpan="6">
                  <a:txBody>
                    <a:bodyPr/>
                    <a:lstStyle/>
                    <a:p>
                      <a:pPr marL="0" indent="0">
                        <a:buNone/>
                      </a:pPr>
                      <a:r>
                        <a:rPr lang="en-US" sz="750" b="1" dirty="0">
                          <a:solidFill>
                            <a:srgbClr val="00C896"/>
                          </a:solidFill>
                          <a:latin typeface="Calibri" pitchFamily="34" charset="0"/>
                          <a:ea typeface="Calibri" pitchFamily="34" charset="-122"/>
                          <a:cs typeface="Calibri" pitchFamily="34" charset="-120"/>
                        </a:rPr>
                        <a:t>🔵 LIQUIDITY</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A254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96596">
                <a:tc>
                  <a:txBody>
                    <a:bodyPr/>
                    <a:lstStyle/>
                    <a:p>
                      <a:pPr marL="0" indent="0">
                        <a:buNone/>
                      </a:pPr>
                      <a:r>
                        <a:rPr lang="en-US" sz="750" dirty="0">
                          <a:solidFill>
                            <a:srgbClr val="A0AEC0"/>
                          </a:solidFill>
                          <a:latin typeface="Calibri" pitchFamily="34" charset="0"/>
                          <a:ea typeface="Calibri" pitchFamily="34" charset="-122"/>
                          <a:cs typeface="Calibri" pitchFamily="34" charset="-120"/>
                        </a:rPr>
                        <a:t>Current Ratio</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2.62x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3.52x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+34%</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 2.0x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Excellent</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extLst>
                  <a:ext uri="{0D108BD9-81ED-4DB2-BD59-A6C34878D82A}">
                    <a16:rowId xmlns:a16="http://schemas.microsoft.com/office/drawing/2014/main" val="10002"/>
                  </a:ext>
                </a:extLst>
              </a:tr>
              <a:tr h="196596">
                <a:tc>
                  <a:txBody>
                    <a:bodyPr/>
                    <a:lstStyle/>
                    <a:p>
                      <a:pPr marL="0" indent="0">
                        <a:buNone/>
                      </a:pPr>
                      <a:r>
                        <a:rPr lang="en-US" sz="750" dirty="0">
                          <a:solidFill>
                            <a:srgbClr val="A0AEC0"/>
                          </a:solidFill>
                          <a:latin typeface="Calibri" pitchFamily="34" charset="0"/>
                          <a:ea typeface="Calibri" pitchFamily="34" charset="-122"/>
                          <a:cs typeface="Calibri" pitchFamily="34" charset="-120"/>
                        </a:rPr>
                        <a:t>Quick Ratio</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2.58x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3.47x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+35%</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 1.0x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Excellent</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extLst>
                  <a:ext uri="{0D108BD9-81ED-4DB2-BD59-A6C34878D82A}">
                    <a16:rowId xmlns:a16="http://schemas.microsoft.com/office/drawing/2014/main" val="10003"/>
                  </a:ext>
                </a:extLst>
              </a:tr>
              <a:tr h="196596">
                <a:tc>
                  <a:txBody>
                    <a:bodyPr/>
                    <a:lstStyle/>
                    <a:p>
                      <a:pPr marL="0" indent="0">
                        <a:buNone/>
                      </a:pPr>
                      <a:r>
                        <a:rPr lang="en-US" sz="750" dirty="0">
                          <a:solidFill>
                            <a:srgbClr val="A0AEC0"/>
                          </a:solidFill>
                          <a:latin typeface="Calibri" pitchFamily="34" charset="0"/>
                          <a:ea typeface="Calibri" pitchFamily="34" charset="-122"/>
                          <a:cs typeface="Calibri" pitchFamily="34" charset="-120"/>
                        </a:rPr>
                        <a:t>Cash Ratio</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0.76x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0.88x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+16%</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0.5–1.0x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Ideal</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extLst>
                  <a:ext uri="{0D108BD9-81ED-4DB2-BD59-A6C34878D82A}">
                    <a16:rowId xmlns:a16="http://schemas.microsoft.com/office/drawing/2014/main" val="10004"/>
                  </a:ext>
                </a:extLst>
              </a:tr>
              <a:tr h="196596">
                <a:tc>
                  <a:txBody>
                    <a:bodyPr/>
                    <a:lstStyle/>
                    <a:p>
                      <a:pPr marL="0" indent="0">
                        <a:buNone/>
                      </a:pPr>
                      <a:r>
                        <a:rPr lang="en-US" sz="750" dirty="0">
                          <a:solidFill>
                            <a:srgbClr val="A0AEC0"/>
                          </a:solidFill>
                          <a:latin typeface="Calibri" pitchFamily="34" charset="0"/>
                          <a:ea typeface="Calibri" pitchFamily="34" charset="-122"/>
                          <a:cs typeface="Calibri" pitchFamily="34" charset="-120"/>
                        </a:rPr>
                        <a:t>Basic Defence Ratio</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195 days</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258 days</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+32%</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 90 days</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Exceptional</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extLst>
                  <a:ext uri="{0D108BD9-81ED-4DB2-BD59-A6C34878D82A}">
                    <a16:rowId xmlns:a16="http://schemas.microsoft.com/office/drawing/2014/main" val="10005"/>
                  </a:ext>
                </a:extLst>
              </a:tr>
              <a:tr h="196596">
                <a:tc gridSpan="6">
                  <a:txBody>
                    <a:bodyPr/>
                    <a:lstStyle/>
                    <a:p>
                      <a:pPr marL="0" indent="0">
                        <a:buNone/>
                      </a:pPr>
                      <a:r>
                        <a:rPr lang="en-US" sz="750" b="1" dirty="0">
                          <a:solidFill>
                            <a:srgbClr val="FC6404"/>
                          </a:solidFill>
                          <a:latin typeface="Calibri" pitchFamily="34" charset="0"/>
                          <a:ea typeface="Calibri" pitchFamily="34" charset="-122"/>
                          <a:cs typeface="Calibri" pitchFamily="34" charset="-120"/>
                        </a:rPr>
                        <a:t>🔵 SOLVENCY &amp; COVERAGE</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A254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196596">
                <a:tc>
                  <a:txBody>
                    <a:bodyPr/>
                    <a:lstStyle/>
                    <a:p>
                      <a:pPr marL="0" indent="0">
                        <a:buNone/>
                      </a:pPr>
                      <a:r>
                        <a:rPr lang="en-US" sz="750" dirty="0">
                          <a:solidFill>
                            <a:srgbClr val="A0AEC0"/>
                          </a:solidFill>
                          <a:latin typeface="Calibri" pitchFamily="34" charset="0"/>
                          <a:ea typeface="Calibri" pitchFamily="34" charset="-122"/>
                          <a:cs typeface="Calibri" pitchFamily="34" charset="-120"/>
                        </a:rPr>
                        <a:t>Debt-to-Equity</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0.14x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FACC15"/>
                          </a:solidFill>
                          <a:latin typeface="Calibri" pitchFamily="34" charset="0"/>
                          <a:ea typeface="Calibri" pitchFamily="34" charset="-122"/>
                          <a:cs typeface="Calibri" pitchFamily="34" charset="-120"/>
                        </a:rPr>
                        <a:t>0.18x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dirty="0">
                          <a:solidFill>
                            <a:srgbClr val="FACC15"/>
                          </a:solidFill>
                          <a:latin typeface="Calibri" pitchFamily="34" charset="0"/>
                          <a:ea typeface="Calibri" pitchFamily="34" charset="-122"/>
                          <a:cs typeface="Calibri" pitchFamily="34" charset="-120"/>
                        </a:rPr>
                        <a:t>▼ Rise</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&lt; 1.0x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Very Safe</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extLst>
                  <a:ext uri="{0D108BD9-81ED-4DB2-BD59-A6C34878D82A}">
                    <a16:rowId xmlns:a16="http://schemas.microsoft.com/office/drawing/2014/main" val="10007"/>
                  </a:ext>
                </a:extLst>
              </a:tr>
              <a:tr h="196596">
                <a:tc>
                  <a:txBody>
                    <a:bodyPr/>
                    <a:lstStyle/>
                    <a:p>
                      <a:pPr marL="0" indent="0">
                        <a:buNone/>
                      </a:pPr>
                      <a:r>
                        <a:rPr lang="en-US" sz="750" dirty="0">
                          <a:solidFill>
                            <a:srgbClr val="A0AEC0"/>
                          </a:solidFill>
                          <a:latin typeface="Calibri" pitchFamily="34" charset="0"/>
                          <a:ea typeface="Calibri" pitchFamily="34" charset="-122"/>
                          <a:cs typeface="Calibri" pitchFamily="34" charset="-120"/>
                        </a:rPr>
                        <a:t>Interest Coverage</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5.04x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5.53x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+10%</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 3.0x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Strong</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extLst>
                  <a:ext uri="{0D108BD9-81ED-4DB2-BD59-A6C34878D82A}">
                    <a16:rowId xmlns:a16="http://schemas.microsoft.com/office/drawing/2014/main" val="10008"/>
                  </a:ext>
                </a:extLst>
              </a:tr>
              <a:tr h="196596">
                <a:tc>
                  <a:txBody>
                    <a:bodyPr/>
                    <a:lstStyle/>
                    <a:p>
                      <a:pPr marL="0" indent="0">
                        <a:buNone/>
                      </a:pPr>
                      <a:r>
                        <a:rPr lang="en-US" sz="750" dirty="0">
                          <a:solidFill>
                            <a:srgbClr val="A0AEC0"/>
                          </a:solidFill>
                          <a:latin typeface="Calibri" pitchFamily="34" charset="0"/>
                          <a:ea typeface="Calibri" pitchFamily="34" charset="-122"/>
                          <a:cs typeface="Calibri" pitchFamily="34" charset="-120"/>
                        </a:rPr>
                        <a:t>DSCR</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7.47x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FACC15"/>
                          </a:solidFill>
                          <a:latin typeface="Calibri" pitchFamily="34" charset="0"/>
                          <a:ea typeface="Calibri" pitchFamily="34" charset="-122"/>
                          <a:cs typeface="Calibri" pitchFamily="34" charset="-120"/>
                        </a:rPr>
                        <a:t>5.78x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dirty="0">
                          <a:solidFill>
                            <a:srgbClr val="FACC15"/>
                          </a:solidFill>
                          <a:latin typeface="Calibri" pitchFamily="34" charset="0"/>
                          <a:ea typeface="Calibri" pitchFamily="34" charset="-122"/>
                          <a:cs typeface="Calibri" pitchFamily="34" charset="-120"/>
                        </a:rPr>
                        <a:t>▼ -23%</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 1.5x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Healthy</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extLst>
                  <a:ext uri="{0D108BD9-81ED-4DB2-BD59-A6C34878D82A}">
                    <a16:rowId xmlns:a16="http://schemas.microsoft.com/office/drawing/2014/main" val="10009"/>
                  </a:ext>
                </a:extLst>
              </a:tr>
              <a:tr h="196596">
                <a:tc gridSpan="6">
                  <a:txBody>
                    <a:bodyPr/>
                    <a:lstStyle/>
                    <a:p>
                      <a:pPr marL="0" indent="0">
                        <a:buNone/>
                      </a:pPr>
                      <a:r>
                        <a:rPr lang="en-US" sz="750" b="1" dirty="0">
                          <a:solidFill>
                            <a:srgbClr val="FACC15"/>
                          </a:solidFill>
                          <a:latin typeface="Calibri" pitchFamily="34" charset="0"/>
                          <a:ea typeface="Calibri" pitchFamily="34" charset="-122"/>
                          <a:cs typeface="Calibri" pitchFamily="34" charset="-120"/>
                        </a:rPr>
                        <a:t>🔵 EFFICIENCY</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A254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0"/>
                  </a:ext>
                </a:extLst>
              </a:tr>
              <a:tr h="196596">
                <a:tc>
                  <a:txBody>
                    <a:bodyPr/>
                    <a:lstStyle/>
                    <a:p>
                      <a:pPr marL="0" indent="0">
                        <a:buNone/>
                      </a:pPr>
                      <a:r>
                        <a:rPr lang="en-US" sz="750" dirty="0">
                          <a:solidFill>
                            <a:srgbClr val="A0AEC0"/>
                          </a:solidFill>
                          <a:latin typeface="Calibri" pitchFamily="34" charset="0"/>
                          <a:ea typeface="Calibri" pitchFamily="34" charset="-122"/>
                          <a:cs typeface="Calibri" pitchFamily="34" charset="-120"/>
                        </a:rPr>
                        <a:t>Inventory Turnover</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32.75x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42.16x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+29%</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&gt; 10x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Excellent</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extLst>
                  <a:ext uri="{0D108BD9-81ED-4DB2-BD59-A6C34878D82A}">
                    <a16:rowId xmlns:a16="http://schemas.microsoft.com/office/drawing/2014/main" val="10011"/>
                  </a:ext>
                </a:extLst>
              </a:tr>
              <a:tr h="196596">
                <a:tc>
                  <a:txBody>
                    <a:bodyPr/>
                    <a:lstStyle/>
                    <a:p>
                      <a:pPr marL="0" indent="0">
                        <a:buNone/>
                      </a:pPr>
                      <a:r>
                        <a:rPr lang="en-US" sz="750" dirty="0">
                          <a:solidFill>
                            <a:srgbClr val="A0AEC0"/>
                          </a:solidFill>
                          <a:latin typeface="Calibri" pitchFamily="34" charset="0"/>
                          <a:ea typeface="Calibri" pitchFamily="34" charset="-122"/>
                          <a:cs typeface="Calibri" pitchFamily="34" charset="-120"/>
                        </a:rPr>
                        <a:t>Asset Turnover</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0.54x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0.69x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+28%</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0.5–1.0x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On Track</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extLst>
                  <a:ext uri="{0D108BD9-81ED-4DB2-BD59-A6C34878D82A}">
                    <a16:rowId xmlns:a16="http://schemas.microsoft.com/office/drawing/2014/main" val="10012"/>
                  </a:ext>
                </a:extLst>
              </a:tr>
              <a:tr h="196596">
                <a:tc>
                  <a:txBody>
                    <a:bodyPr/>
                    <a:lstStyle/>
                    <a:p>
                      <a:pPr marL="0" indent="0">
                        <a:buNone/>
                      </a:pPr>
                      <a:r>
                        <a:rPr lang="en-US" sz="750" dirty="0">
                          <a:solidFill>
                            <a:srgbClr val="A0AEC0"/>
                          </a:solidFill>
                          <a:latin typeface="Calibri" pitchFamily="34" charset="0"/>
                          <a:ea typeface="Calibri" pitchFamily="34" charset="-122"/>
                          <a:cs typeface="Calibri" pitchFamily="34" charset="-120"/>
                        </a:rPr>
                        <a:t>Avg. Payment Period</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dirty="0">
                          <a:solidFill>
                            <a:srgbClr val="F87171"/>
                          </a:solidFill>
                          <a:latin typeface="Calibri" pitchFamily="34" charset="0"/>
                          <a:ea typeface="Calibri" pitchFamily="34" charset="-122"/>
                          <a:cs typeface="Calibri" pitchFamily="34" charset="-120"/>
                        </a:rPr>
                        <a:t>112 days</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79 days</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-30%</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30–90 days</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Improved</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extLst>
                  <a:ext uri="{0D108BD9-81ED-4DB2-BD59-A6C34878D82A}">
                    <a16:rowId xmlns:a16="http://schemas.microsoft.com/office/drawing/2014/main" val="10013"/>
                  </a:ext>
                </a:extLst>
              </a:tr>
              <a:tr h="196596">
                <a:tc gridSpan="6">
                  <a:txBody>
                    <a:bodyPr/>
                    <a:lstStyle/>
                    <a:p>
                      <a:pPr marL="0" indent="0">
                        <a:buNone/>
                      </a:pPr>
                      <a:r>
                        <a:rPr lang="en-US" sz="750" b="1" dirty="0">
                          <a:solidFill>
                            <a:srgbClr val="E84393"/>
                          </a:solidFill>
                          <a:latin typeface="Calibri" pitchFamily="34" charset="0"/>
                          <a:ea typeface="Calibri" pitchFamily="34" charset="-122"/>
                          <a:cs typeface="Calibri" pitchFamily="34" charset="-120"/>
                        </a:rPr>
                        <a:t>🔵 PROFITABILITY</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A254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4"/>
                  </a:ext>
                </a:extLst>
              </a:tr>
              <a:tr h="196596">
                <a:tc>
                  <a:txBody>
                    <a:bodyPr/>
                    <a:lstStyle/>
                    <a:p>
                      <a:pPr marL="0" indent="0">
                        <a:buNone/>
                      </a:pPr>
                      <a:r>
                        <a:rPr lang="en-US" sz="750" dirty="0">
                          <a:solidFill>
                            <a:srgbClr val="A0AEC0"/>
                          </a:solidFill>
                          <a:latin typeface="Calibri" pitchFamily="34" charset="0"/>
                          <a:ea typeface="Calibri" pitchFamily="34" charset="-122"/>
                          <a:cs typeface="Calibri" pitchFamily="34" charset="-120"/>
                        </a:rPr>
                        <a:t>ROCE</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1.71%</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3.18%</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+86%</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&gt; 10%</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FACC15"/>
                          </a:solidFill>
                          <a:latin typeface="Calibri" pitchFamily="34" charset="0"/>
                          <a:ea typeface="Calibri" pitchFamily="34" charset="-122"/>
                          <a:cs typeface="Calibri" pitchFamily="34" charset="-120"/>
                        </a:rPr>
                        <a:t>⚡ Rising</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extLst>
                  <a:ext uri="{0D108BD9-81ED-4DB2-BD59-A6C34878D82A}">
                    <a16:rowId xmlns:a16="http://schemas.microsoft.com/office/drawing/2014/main" val="10015"/>
                  </a:ext>
                </a:extLst>
              </a:tr>
              <a:tr h="196596">
                <a:tc>
                  <a:txBody>
                    <a:bodyPr/>
                    <a:lstStyle/>
                    <a:p>
                      <a:pPr marL="0" indent="0">
                        <a:buNone/>
                      </a:pPr>
                      <a:r>
                        <a:rPr lang="en-US" sz="750" dirty="0">
                          <a:solidFill>
                            <a:srgbClr val="A0AEC0"/>
                          </a:solidFill>
                          <a:latin typeface="Calibri" pitchFamily="34" charset="0"/>
                          <a:ea typeface="Calibri" pitchFamily="34" charset="-122"/>
                          <a:cs typeface="Calibri" pitchFamily="34" charset="-120"/>
                        </a:rPr>
                        <a:t>Net Profit Ratio</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2.90%</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b="1" dirty="0">
                          <a:solidFill>
                            <a:srgbClr val="FACC15"/>
                          </a:solidFill>
                          <a:latin typeface="Calibri" pitchFamily="34" charset="0"/>
                          <a:ea typeface="Calibri" pitchFamily="34" charset="-122"/>
                          <a:cs typeface="Calibri" pitchFamily="34" charset="-120"/>
                        </a:rPr>
                        <a:t>2.60%</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dirty="0">
                          <a:solidFill>
                            <a:srgbClr val="FACC15"/>
                          </a:solidFill>
                          <a:latin typeface="Calibri" pitchFamily="34" charset="0"/>
                          <a:ea typeface="Calibri" pitchFamily="34" charset="-122"/>
                          <a:cs typeface="Calibri" pitchFamily="34" charset="-120"/>
                        </a:rPr>
                        <a:t>▼ -0.3pp</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&gt; 5%</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tc>
                  <a:txBody>
                    <a:bodyPr/>
                    <a:lstStyle/>
                    <a:p>
                      <a:pPr marL="0" indent="0" algn="ctr">
                        <a:buNone/>
                      </a:pPr>
                      <a:r>
                        <a:rPr lang="en-US" sz="750" b="1" dirty="0">
                          <a:solidFill>
                            <a:srgbClr val="FACC15"/>
                          </a:solidFill>
                          <a:latin typeface="Calibri" pitchFamily="34" charset="0"/>
                          <a:ea typeface="Calibri" pitchFamily="34" charset="-122"/>
                          <a:cs typeface="Calibri" pitchFamily="34" charset="-120"/>
                        </a:rPr>
                        <a:t>⚡ Growing</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1E2957"/>
                    </a:solidFill>
                  </a:tcPr>
                </a:tc>
                <a:extLst>
                  <a:ext uri="{0D108BD9-81ED-4DB2-BD59-A6C34878D82A}">
                    <a16:rowId xmlns:a16="http://schemas.microsoft.com/office/drawing/2014/main" val="10016"/>
                  </a:ext>
                </a:extLst>
              </a:tr>
              <a:tr h="196596">
                <a:tc>
                  <a:txBody>
                    <a:bodyPr/>
                    <a:lstStyle/>
                    <a:p>
                      <a:pPr marL="0" indent="0">
                        <a:buNone/>
                      </a:pPr>
                      <a:r>
                        <a:rPr lang="en-US" sz="750" dirty="0">
                          <a:solidFill>
                            <a:srgbClr val="A0AEC0"/>
                          </a:solidFill>
                          <a:latin typeface="Calibri" pitchFamily="34" charset="0"/>
                          <a:ea typeface="Calibri" pitchFamily="34" charset="-122"/>
                          <a:cs typeface="Calibri" pitchFamily="34" charset="-120"/>
                        </a:rPr>
                        <a:t>P/E Ratio</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512x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303x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00C896"/>
                          </a:solidFill>
                          <a:latin typeface="Calibri" pitchFamily="34" charset="0"/>
                          <a:ea typeface="Calibri" pitchFamily="34" charset="-122"/>
                          <a:cs typeface="Calibri" pitchFamily="34" charset="-120"/>
                        </a:rPr>
                        <a:t>▲ Better</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dirty="0">
                          <a:solidFill>
                            <a:srgbClr val="A0AEC0"/>
                          </a:solidFill>
                          <a:latin typeface="Calibri" pitchFamily="34" charset="0"/>
                          <a:ea typeface="Calibri" pitchFamily="34" charset="-122"/>
                          <a:cs typeface="Calibri" pitchFamily="34" charset="-120"/>
                        </a:rPr>
                        <a:t>25–60x</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tc>
                  <a:txBody>
                    <a:bodyPr/>
                    <a:lstStyle/>
                    <a:p>
                      <a:pPr marL="0" indent="0" algn="ctr">
                        <a:buNone/>
                      </a:pPr>
                      <a:r>
                        <a:rPr lang="en-US" sz="750" b="1" dirty="0">
                          <a:solidFill>
                            <a:srgbClr val="FACC15"/>
                          </a:solidFill>
                          <a:latin typeface="Calibri" pitchFamily="34" charset="0"/>
                          <a:ea typeface="Calibri" pitchFamily="34" charset="-122"/>
                          <a:cs typeface="Calibri" pitchFamily="34" charset="-120"/>
                        </a:rPr>
                        <a:t>📈 Premium</a:t>
                      </a:r>
                      <a:endParaRPr lang="en-US" sz="750" dirty="0">
                        <a:latin typeface="Calibri" charset="0"/>
                        <a:ea typeface="Calibri" charset="0"/>
                        <a:cs typeface="Calibri" charset="0"/>
                      </a:endParaRPr>
                    </a:p>
                  </a:txBody>
                  <a:tcPr>
                    <a:lnL w="6350" cap="flat" cmpd="sng" algn="ctr">
                      <a:solidFill>
                        <a:srgbClr val="2A3060"/>
                      </a:solidFill>
                      <a:prstDash val="solid"/>
                      <a:round/>
                      <a:headEnd type="none" w="med" len="med"/>
                      <a:tailEnd type="none" w="med" len="med"/>
                    </a:lnL>
                    <a:lnR w="6350" cap="flat" cmpd="sng" algn="ctr">
                      <a:solidFill>
                        <a:srgbClr val="2A3060"/>
                      </a:solidFill>
                      <a:prstDash val="solid"/>
                      <a:round/>
                      <a:headEnd type="none" w="med" len="med"/>
                      <a:tailEnd type="none" w="med" len="med"/>
                    </a:lnR>
                    <a:lnT w="6350" cap="flat" cmpd="sng" algn="ctr">
                      <a:solidFill>
                        <a:srgbClr val="2A3060"/>
                      </a:solidFill>
                      <a:prstDash val="solid"/>
                      <a:round/>
                      <a:headEnd type="none" w="med" len="med"/>
                      <a:tailEnd type="none" w="med" len="med"/>
                    </a:lnT>
                    <a:lnB w="6350" cap="flat" cmpd="sng" algn="ctr">
                      <a:solidFill>
                        <a:srgbClr val="2A3060"/>
                      </a:solidFill>
                      <a:prstDash val="solid"/>
                      <a:round/>
                      <a:headEnd type="none" w="med" len="med"/>
                      <a:tailEnd type="none" w="med" len="med"/>
                    </a:lnB>
                    <a:solidFill>
                      <a:srgbClr val="2D3561"/>
                    </a:solidFill>
                  </a:tcPr>
                </a:tc>
                <a:extLst>
                  <a:ext uri="{0D108BD9-81ED-4DB2-BD59-A6C34878D82A}">
                    <a16:rowId xmlns:a16="http://schemas.microsoft.com/office/drawing/2014/main" val="10017"/>
                  </a:ext>
                </a:extLst>
              </a:tr>
            </a:tbl>
          </a:graphicData>
        </a:graphic>
      </p:graphicFrame>
      <p:sp>
        <p:nvSpPr>
          <p:cNvPr id="7" name="Shape 4"/>
          <p:cNvSpPr/>
          <p:nvPr/>
        </p:nvSpPr>
        <p:spPr>
          <a:xfrm>
            <a:off x="6492240" y="960120"/>
            <a:ext cx="2423160" cy="4096512"/>
          </a:xfrm>
          <a:prstGeom prst="rect">
            <a:avLst/>
          </a:prstGeom>
          <a:solidFill>
            <a:srgbClr val="2D3561"/>
          </a:solidFill>
          <a:ln w="12700">
            <a:solidFill>
              <a:srgbClr val="E84393"/>
            </a:solidFill>
            <a:prstDash val="solid"/>
          </a:ln>
          <a:effectLst>
            <a:outerShdw blurRad="101600" dist="38100" dir="8100000" algn="bl" rotWithShape="0">
              <a:srgbClr val="000000">
                <a:alpha val="25000"/>
              </a:srgbClr>
            </a:outerShdw>
          </a:effectLst>
        </p:spPr>
      </p:sp>
      <p:sp>
        <p:nvSpPr>
          <p:cNvPr id="8" name="Shape 5"/>
          <p:cNvSpPr/>
          <p:nvPr/>
        </p:nvSpPr>
        <p:spPr>
          <a:xfrm>
            <a:off x="6492240" y="960120"/>
            <a:ext cx="2423160" cy="64008"/>
          </a:xfrm>
          <a:prstGeom prst="rect">
            <a:avLst/>
          </a:prstGeom>
          <a:solidFill>
            <a:srgbClr val="E84393"/>
          </a:solidFill>
          <a:ln w="12700">
            <a:solidFill>
              <a:srgbClr val="E84393"/>
            </a:solidFill>
            <a:prstDash val="solid"/>
          </a:ln>
        </p:spPr>
      </p:sp>
      <p:sp>
        <p:nvSpPr>
          <p:cNvPr id="9" name="Text 6"/>
          <p:cNvSpPr/>
          <p:nvPr/>
        </p:nvSpPr>
        <p:spPr>
          <a:xfrm>
            <a:off x="6583680" y="1051560"/>
            <a:ext cx="2240280" cy="256032"/>
          </a:xfrm>
          <a:prstGeom prst="rect">
            <a:avLst/>
          </a:prstGeom>
          <a:noFill/>
          <a:ln/>
        </p:spPr>
        <p:txBody>
          <a:bodyPr wrap="square" rtlCol="0" anchor="ctr"/>
          <a:lstStyle/>
          <a:p>
            <a:pPr marL="0" indent="0">
              <a:buNone/>
            </a:pPr>
            <a:r>
              <a:rPr lang="en-US" sz="1100" b="1" dirty="0">
                <a:solidFill>
                  <a:srgbClr val="E84393"/>
                </a:solidFill>
                <a:latin typeface="Calibri" pitchFamily="34" charset="0"/>
                <a:ea typeface="Calibri" pitchFamily="34" charset="-122"/>
                <a:cs typeface="Calibri" pitchFamily="34" charset="-120"/>
              </a:rPr>
              <a:t>🏁 Final Verdict</a:t>
            </a:r>
            <a:endParaRPr lang="en-US" sz="1100" dirty="0"/>
          </a:p>
        </p:txBody>
      </p:sp>
      <p:sp>
        <p:nvSpPr>
          <p:cNvPr id="10" name="Text 7"/>
          <p:cNvSpPr/>
          <p:nvPr/>
        </p:nvSpPr>
        <p:spPr>
          <a:xfrm>
            <a:off x="6583680" y="1371600"/>
            <a:ext cx="2240280" cy="201168"/>
          </a:xfrm>
          <a:prstGeom prst="rect">
            <a:avLst/>
          </a:prstGeom>
          <a:noFill/>
          <a:ln/>
        </p:spPr>
        <p:txBody>
          <a:bodyPr wrap="square" rtlCol="0" anchor="ctr"/>
          <a:lstStyle/>
          <a:p>
            <a:pPr marL="0" indent="0">
              <a:buNone/>
            </a:pPr>
            <a:r>
              <a:rPr lang="en-US" sz="850" b="1" dirty="0">
                <a:solidFill>
                  <a:srgbClr val="00C896"/>
                </a:solidFill>
                <a:latin typeface="Calibri" pitchFamily="34" charset="0"/>
                <a:ea typeface="Calibri" pitchFamily="34" charset="-122"/>
                <a:cs typeface="Calibri" pitchFamily="34" charset="-120"/>
              </a:rPr>
              <a:t>💧 Liquidity</a:t>
            </a:r>
            <a:endParaRPr lang="en-US" sz="850" dirty="0"/>
          </a:p>
        </p:txBody>
      </p:sp>
      <p:sp>
        <p:nvSpPr>
          <p:cNvPr id="11" name="Text 8"/>
          <p:cNvSpPr/>
          <p:nvPr/>
        </p:nvSpPr>
        <p:spPr>
          <a:xfrm>
            <a:off x="6583680" y="1572768"/>
            <a:ext cx="2240280" cy="438912"/>
          </a:xfrm>
          <a:prstGeom prst="rect">
            <a:avLst/>
          </a:prstGeom>
          <a:noFill/>
          <a:ln/>
        </p:spPr>
        <p:txBody>
          <a:bodyPr wrap="square" rtlCol="0" anchor="ctr"/>
          <a:lstStyle/>
          <a:p>
            <a:pPr marL="0" indent="0">
              <a:buNone/>
            </a:pPr>
            <a:r>
              <a:rPr lang="en-US" sz="750" dirty="0">
                <a:solidFill>
                  <a:srgbClr val="A0AEC0"/>
                </a:solidFill>
                <a:latin typeface="Calibri" pitchFamily="34" charset="0"/>
                <a:ea typeface="Calibri" pitchFamily="34" charset="-122"/>
                <a:cs typeface="Calibri" pitchFamily="34" charset="-120"/>
              </a:rPr>
              <a:t>Outstanding. Company can run for 258 days without revenue. Zero short-term risk.</a:t>
            </a:r>
            <a:endParaRPr lang="en-US" sz="750" dirty="0"/>
          </a:p>
        </p:txBody>
      </p:sp>
      <p:sp>
        <p:nvSpPr>
          <p:cNvPr id="6" name="Text 9"/>
          <p:cNvSpPr/>
          <p:nvPr/>
        </p:nvSpPr>
        <p:spPr>
          <a:xfrm>
            <a:off x="6583680" y="2084832"/>
            <a:ext cx="2240280" cy="201168"/>
          </a:xfrm>
          <a:prstGeom prst="rect">
            <a:avLst/>
          </a:prstGeom>
          <a:noFill/>
          <a:ln/>
        </p:spPr>
        <p:txBody>
          <a:bodyPr wrap="square" rtlCol="0" anchor="ctr"/>
          <a:lstStyle/>
          <a:p>
            <a:pPr marL="0" indent="0">
              <a:buNone/>
            </a:pPr>
            <a:r>
              <a:rPr lang="en-US" sz="850" b="1" dirty="0">
                <a:solidFill>
                  <a:srgbClr val="00C896"/>
                </a:solidFill>
                <a:latin typeface="Calibri" pitchFamily="34" charset="0"/>
                <a:ea typeface="Calibri" pitchFamily="34" charset="-122"/>
                <a:cs typeface="Calibri" pitchFamily="34" charset="-120"/>
              </a:rPr>
              <a:t>🛡️ Solvency</a:t>
            </a:r>
            <a:endParaRPr lang="en-US" sz="850" dirty="0"/>
          </a:p>
        </p:txBody>
      </p:sp>
      <p:sp>
        <p:nvSpPr>
          <p:cNvPr id="13" name="Text 10"/>
          <p:cNvSpPr/>
          <p:nvPr/>
        </p:nvSpPr>
        <p:spPr>
          <a:xfrm>
            <a:off x="6583680" y="2286000"/>
            <a:ext cx="2240280" cy="438912"/>
          </a:xfrm>
          <a:prstGeom prst="rect">
            <a:avLst/>
          </a:prstGeom>
          <a:noFill/>
          <a:ln/>
        </p:spPr>
        <p:txBody>
          <a:bodyPr wrap="square" rtlCol="0" anchor="ctr"/>
          <a:lstStyle/>
          <a:p>
            <a:pPr marL="0" indent="0">
              <a:buNone/>
            </a:pPr>
            <a:r>
              <a:rPr lang="en-US" sz="750" dirty="0">
                <a:solidFill>
                  <a:srgbClr val="A0AEC0"/>
                </a:solidFill>
                <a:latin typeface="Calibri" pitchFamily="34" charset="0"/>
                <a:ea typeface="Calibri" pitchFamily="34" charset="-122"/>
                <a:cs typeface="Calibri" pitchFamily="34" charset="-120"/>
              </a:rPr>
              <a:t>Fortress balance sheet. 85% equity-funded. Debt levels are negligible.</a:t>
            </a:r>
            <a:endParaRPr lang="en-US" sz="750" dirty="0"/>
          </a:p>
        </p:txBody>
      </p:sp>
      <p:sp>
        <p:nvSpPr>
          <p:cNvPr id="14" name="Text 11"/>
          <p:cNvSpPr/>
          <p:nvPr/>
        </p:nvSpPr>
        <p:spPr>
          <a:xfrm>
            <a:off x="6583680" y="2798064"/>
            <a:ext cx="2240280" cy="201168"/>
          </a:xfrm>
          <a:prstGeom prst="rect">
            <a:avLst/>
          </a:prstGeom>
          <a:noFill/>
          <a:ln/>
        </p:spPr>
        <p:txBody>
          <a:bodyPr wrap="square" rtlCol="0" anchor="ctr"/>
          <a:lstStyle/>
          <a:p>
            <a:pPr marL="0" indent="0">
              <a:buNone/>
            </a:pPr>
            <a:r>
              <a:rPr lang="en-US" sz="850" b="1" dirty="0">
                <a:solidFill>
                  <a:srgbClr val="00C896"/>
                </a:solidFill>
                <a:latin typeface="Calibri" pitchFamily="34" charset="0"/>
                <a:ea typeface="Calibri" pitchFamily="34" charset="-122"/>
                <a:cs typeface="Calibri" pitchFamily="34" charset="-120"/>
              </a:rPr>
              <a:t>⚙️ Efficiency</a:t>
            </a:r>
            <a:endParaRPr lang="en-US" sz="850" dirty="0"/>
          </a:p>
        </p:txBody>
      </p:sp>
      <p:sp>
        <p:nvSpPr>
          <p:cNvPr id="15" name="Text 12"/>
          <p:cNvSpPr/>
          <p:nvPr/>
        </p:nvSpPr>
        <p:spPr>
          <a:xfrm>
            <a:off x="6583680" y="2999232"/>
            <a:ext cx="2240280" cy="438912"/>
          </a:xfrm>
          <a:prstGeom prst="rect">
            <a:avLst/>
          </a:prstGeom>
          <a:noFill/>
          <a:ln/>
        </p:spPr>
        <p:txBody>
          <a:bodyPr wrap="square" rtlCol="0" anchor="ctr"/>
          <a:lstStyle/>
          <a:p>
            <a:pPr marL="0" indent="0">
              <a:buNone/>
            </a:pPr>
            <a:r>
              <a:rPr lang="en-US" sz="750" dirty="0">
                <a:solidFill>
                  <a:srgbClr val="A0AEC0"/>
                </a:solidFill>
                <a:latin typeface="Calibri" pitchFamily="34" charset="0"/>
                <a:ea typeface="Calibri" pitchFamily="34" charset="-122"/>
                <a:cs typeface="Calibri" pitchFamily="34" charset="-120"/>
              </a:rPr>
              <a:t>Improving rapidly. Revenue growing 2.5× faster than assets — scale kicking in.</a:t>
            </a:r>
            <a:endParaRPr lang="en-US" sz="750" dirty="0"/>
          </a:p>
        </p:txBody>
      </p:sp>
      <p:sp>
        <p:nvSpPr>
          <p:cNvPr id="16" name="Text 13"/>
          <p:cNvSpPr/>
          <p:nvPr/>
        </p:nvSpPr>
        <p:spPr>
          <a:xfrm>
            <a:off x="6583680" y="3511296"/>
            <a:ext cx="2240280" cy="201168"/>
          </a:xfrm>
          <a:prstGeom prst="rect">
            <a:avLst/>
          </a:prstGeom>
          <a:noFill/>
          <a:ln/>
        </p:spPr>
        <p:txBody>
          <a:bodyPr wrap="square" rtlCol="0" anchor="ctr"/>
          <a:lstStyle/>
          <a:p>
            <a:pPr marL="0" indent="0">
              <a:buNone/>
            </a:pPr>
            <a:r>
              <a:rPr lang="en-US" sz="850" b="1" dirty="0">
                <a:solidFill>
                  <a:srgbClr val="FACC15"/>
                </a:solidFill>
                <a:latin typeface="Calibri" pitchFamily="34" charset="0"/>
                <a:ea typeface="Calibri" pitchFamily="34" charset="-122"/>
                <a:cs typeface="Calibri" pitchFamily="34" charset="-120"/>
              </a:rPr>
              <a:t>💰 Profitability</a:t>
            </a:r>
            <a:endParaRPr lang="en-US" sz="850" dirty="0"/>
          </a:p>
        </p:txBody>
      </p:sp>
      <p:sp>
        <p:nvSpPr>
          <p:cNvPr id="17" name="Text 14"/>
          <p:cNvSpPr/>
          <p:nvPr/>
        </p:nvSpPr>
        <p:spPr>
          <a:xfrm>
            <a:off x="6583680" y="3712464"/>
            <a:ext cx="2240280" cy="438912"/>
          </a:xfrm>
          <a:prstGeom prst="rect">
            <a:avLst/>
          </a:prstGeom>
          <a:noFill/>
          <a:ln/>
        </p:spPr>
        <p:txBody>
          <a:bodyPr wrap="square" rtlCol="0" anchor="ctr"/>
          <a:lstStyle/>
          <a:p>
            <a:pPr marL="0" indent="0">
              <a:buNone/>
            </a:pPr>
            <a:r>
              <a:rPr lang="en-US" sz="750" dirty="0">
                <a:solidFill>
                  <a:srgbClr val="A0AEC0"/>
                </a:solidFill>
                <a:latin typeface="Calibri" pitchFamily="34" charset="0"/>
                <a:ea typeface="Calibri" pitchFamily="34" charset="-122"/>
                <a:cs typeface="Calibri" pitchFamily="34" charset="-120"/>
              </a:rPr>
              <a:t>Still early but trajectory is right. ROCE doubled; margins expanding as scale grows.</a:t>
            </a:r>
            <a:endParaRPr lang="en-US" sz="750" dirty="0"/>
          </a:p>
        </p:txBody>
      </p:sp>
      <p:sp>
        <p:nvSpPr>
          <p:cNvPr id="18" name="Text 15"/>
          <p:cNvSpPr/>
          <p:nvPr/>
        </p:nvSpPr>
        <p:spPr>
          <a:xfrm>
            <a:off x="6583680" y="4224528"/>
            <a:ext cx="2240280" cy="201168"/>
          </a:xfrm>
          <a:prstGeom prst="rect">
            <a:avLst/>
          </a:prstGeom>
          <a:noFill/>
          <a:ln/>
        </p:spPr>
        <p:txBody>
          <a:bodyPr wrap="square" rtlCol="0" anchor="ctr"/>
          <a:lstStyle/>
          <a:p>
            <a:pPr marL="0" indent="0">
              <a:buNone/>
            </a:pPr>
            <a:r>
              <a:rPr lang="en-US" sz="850" b="1" dirty="0">
                <a:solidFill>
                  <a:srgbClr val="FACC15"/>
                </a:solidFill>
                <a:latin typeface="Calibri" pitchFamily="34" charset="0"/>
                <a:ea typeface="Calibri" pitchFamily="34" charset="-122"/>
                <a:cs typeface="Calibri" pitchFamily="34" charset="-120"/>
              </a:rPr>
              <a:t>📈 Valuation</a:t>
            </a:r>
            <a:endParaRPr lang="en-US" sz="850" dirty="0"/>
          </a:p>
        </p:txBody>
      </p:sp>
      <p:sp>
        <p:nvSpPr>
          <p:cNvPr id="19" name="Text 16"/>
          <p:cNvSpPr/>
          <p:nvPr/>
        </p:nvSpPr>
        <p:spPr>
          <a:xfrm>
            <a:off x="6583680" y="4425696"/>
            <a:ext cx="2240280" cy="438912"/>
          </a:xfrm>
          <a:prstGeom prst="rect">
            <a:avLst/>
          </a:prstGeom>
          <a:noFill/>
          <a:ln/>
        </p:spPr>
        <p:txBody>
          <a:bodyPr wrap="square" rtlCol="0" anchor="ctr"/>
          <a:lstStyle/>
          <a:p>
            <a:pPr marL="0" indent="0">
              <a:buNone/>
            </a:pPr>
            <a:r>
              <a:rPr lang="en-US" sz="750" dirty="0">
                <a:solidFill>
                  <a:srgbClr val="A0AEC0"/>
                </a:solidFill>
                <a:latin typeface="Calibri" pitchFamily="34" charset="0"/>
                <a:ea typeface="Calibri" pitchFamily="34" charset="-122"/>
                <a:cs typeface="Calibri" pitchFamily="34" charset="-120"/>
              </a:rPr>
              <a:t>Premium P/E (303×) reflects growth potential. Earnings catching up to market price fast.</a:t>
            </a:r>
            <a:endParaRPr lang="en-US" sz="750" dirty="0"/>
          </a:p>
        </p:txBody>
      </p:sp>
      <p:sp>
        <p:nvSpPr>
          <p:cNvPr id="20" name="Shape 17"/>
          <p:cNvSpPr/>
          <p:nvPr/>
        </p:nvSpPr>
        <p:spPr>
          <a:xfrm>
            <a:off x="256032" y="5120640"/>
            <a:ext cx="8659368" cy="713232"/>
          </a:xfrm>
          <a:prstGeom prst="rect">
            <a:avLst/>
          </a:prstGeom>
          <a:solidFill>
            <a:srgbClr val="1E2957"/>
          </a:solidFill>
          <a:ln w="15240">
            <a:solidFill>
              <a:srgbClr val="00C896"/>
            </a:solidFill>
            <a:prstDash val="solid"/>
          </a:ln>
          <a:effectLst>
            <a:outerShdw blurRad="101600" dist="38100" dir="8100000" algn="bl" rotWithShape="0">
              <a:srgbClr val="000000">
                <a:alpha val="25000"/>
              </a:srgbClr>
            </a:outerShdw>
          </a:effectLst>
        </p:spPr>
      </p:sp>
      <p:sp>
        <p:nvSpPr>
          <p:cNvPr id="21" name="Shape 18"/>
          <p:cNvSpPr/>
          <p:nvPr/>
        </p:nvSpPr>
        <p:spPr>
          <a:xfrm>
            <a:off x="256032" y="5120640"/>
            <a:ext cx="54864" cy="713232"/>
          </a:xfrm>
          <a:prstGeom prst="rect">
            <a:avLst/>
          </a:prstGeom>
          <a:solidFill>
            <a:srgbClr val="00C896"/>
          </a:solidFill>
          <a:ln w="12700">
            <a:solidFill>
              <a:srgbClr val="00C896"/>
            </a:solidFill>
            <a:prstDash val="solid"/>
          </a:ln>
        </p:spPr>
      </p:sp>
      <p:sp>
        <p:nvSpPr>
          <p:cNvPr id="22" name="Text 19"/>
          <p:cNvSpPr/>
          <p:nvPr/>
        </p:nvSpPr>
        <p:spPr>
          <a:xfrm>
            <a:off x="384048" y="5166360"/>
            <a:ext cx="3200400" cy="219456"/>
          </a:xfrm>
          <a:prstGeom prst="rect">
            <a:avLst/>
          </a:prstGeom>
          <a:noFill/>
          <a:ln/>
        </p:spPr>
        <p:txBody>
          <a:bodyPr wrap="square" rtlCol="0" anchor="ctr"/>
          <a:lstStyle/>
          <a:p>
            <a:pPr marL="0" indent="0">
              <a:buNone/>
            </a:pPr>
            <a:r>
              <a:rPr lang="en-US" sz="1000" b="1" dirty="0">
                <a:solidFill>
                  <a:srgbClr val="00C896"/>
                </a:solidFill>
                <a:latin typeface="Calibri" pitchFamily="34" charset="0"/>
                <a:ea typeface="Calibri" pitchFamily="34" charset="-122"/>
                <a:cs typeface="Calibri" pitchFamily="34" charset="-120"/>
              </a:rPr>
              <a:t>📋 Overall Conclusion</a:t>
            </a:r>
            <a:endParaRPr lang="en-US" sz="1000" dirty="0"/>
          </a:p>
        </p:txBody>
      </p:sp>
      <p:sp>
        <p:nvSpPr>
          <p:cNvPr id="23" name="Text 20"/>
          <p:cNvSpPr/>
          <p:nvPr/>
        </p:nvSpPr>
        <p:spPr>
          <a:xfrm>
            <a:off x="384048" y="5394960"/>
            <a:ext cx="8467344" cy="402336"/>
          </a:xfrm>
          <a:prstGeom prst="rect">
            <a:avLst/>
          </a:prstGeom>
          <a:noFill/>
          <a:ln/>
        </p:spPr>
        <p:txBody>
          <a:bodyPr wrap="square" rtlCol="0" anchor="ctr"/>
          <a:lstStyle/>
          <a:p>
            <a:pPr marL="0" indent="0">
              <a:buNone/>
            </a:pPr>
            <a:r>
              <a:rPr lang="en-US" sz="780" dirty="0">
                <a:solidFill>
                  <a:srgbClr val="000000"/>
                </a:solidFill>
                <a:latin typeface="Calibri" pitchFamily="34" charset="0"/>
                <a:ea typeface="Calibri" pitchFamily="34" charset="-122"/>
                <a:cs typeface="Calibri" pitchFamily="34" charset="-120"/>
              </a:rPr>
              <a:t>Eternal Limited is in excellent financial health for a high-growth tech platform. Liquidity and solvency ratios are outstanding — the company is in zero danger of financial distress. Efficiency is on a strong upward trajectory, proving that scale is starting to work. Profitability remains the one area to watch: margins are low but improving every quarter. The P/E compression from 512× to 303× is a very positive signal — earnings are finally growing faster than the market price. The company is firmly on the path from a "high-growth, low-profit" company to a "high-growth, high-profit" one. Rating: ⭐⭐⭐⭐ (Strong Positive Outlook)</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4029</Words>
  <Application>Microsoft Office PowerPoint</Application>
  <PresentationFormat>On-screen Show (16:9)</PresentationFormat>
  <Paragraphs>362</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Eternal Limited – Financial Ratio Analysis</dc:title>
  <dc:subject>PptxGenJS Presentation</dc:subject>
  <dc:creator>Financial Analysis Team</dc:creator>
  <cp:lastModifiedBy>DHANIKLAL KUMAR</cp:lastModifiedBy>
  <cp:revision>2</cp:revision>
  <dcterms:created xsi:type="dcterms:W3CDTF">2026-05-03T17:25:08Z</dcterms:created>
  <dcterms:modified xsi:type="dcterms:W3CDTF">2026-05-03T17:32:59Z</dcterms:modified>
</cp:coreProperties>
</file>